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V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1495" autoAdjust="0"/>
  </p:normalViewPr>
  <p:slideViewPr>
    <p:cSldViewPr snapToGrid="0">
      <p:cViewPr varScale="1">
        <p:scale>
          <a:sx n="92" d="100"/>
          <a:sy n="92" d="100"/>
        </p:scale>
        <p:origin x="1278"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V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36F838-32A9-4A48-AF0C-9CA72648D7B9}" type="datetimeFigureOut">
              <a:rPr lang="en-VG" smtClean="0"/>
              <a:t>14/12/2024</a:t>
            </a:fld>
            <a:endParaRPr lang="en-V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V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V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5F46B1-174D-47CD-8558-B608D15F32CA}" type="slidenum">
              <a:rPr lang="en-VG" smtClean="0"/>
              <a:t>‹#›</a:t>
            </a:fld>
            <a:endParaRPr lang="en-VG"/>
          </a:p>
        </p:txBody>
      </p:sp>
    </p:spTree>
    <p:extLst>
      <p:ext uri="{BB962C8B-B14F-4D97-AF65-F5344CB8AC3E}">
        <p14:creationId xmlns:p14="http://schemas.microsoft.com/office/powerpoint/2010/main" val="276561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Case study – KIU LMS hack – even students and lecturers got a hard time because of this attack.</a:t>
            </a:r>
          </a:p>
          <a:p>
            <a:r>
              <a:rPr lang="en-GB" dirty="0"/>
              <a:t>Case study 2 - https://www.securityweek.com/millions-of-user-records-stolen-from-65-websites-via-sql-injection-attacks/</a:t>
            </a:r>
          </a:p>
        </p:txBody>
      </p:sp>
      <p:sp>
        <p:nvSpPr>
          <p:cNvPr id="4" name="Slide Number Placeholder 3"/>
          <p:cNvSpPr>
            <a:spLocks noGrp="1"/>
          </p:cNvSpPr>
          <p:nvPr>
            <p:ph type="sldNum" sz="quarter" idx="5"/>
          </p:nvPr>
        </p:nvSpPr>
        <p:spPr/>
        <p:txBody>
          <a:bodyPr/>
          <a:lstStyle/>
          <a:p>
            <a:fld id="{E65F46B1-174D-47CD-8558-B608D15F32CA}" type="slidenum">
              <a:rPr lang="en-VG" smtClean="0"/>
              <a:t>1</a:t>
            </a:fld>
            <a:endParaRPr lang="en-VG"/>
          </a:p>
        </p:txBody>
      </p:sp>
    </p:spTree>
    <p:extLst>
      <p:ext uri="{BB962C8B-B14F-4D97-AF65-F5344CB8AC3E}">
        <p14:creationId xmlns:p14="http://schemas.microsoft.com/office/powerpoint/2010/main" val="13779054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enterprise resource planning (ERP)</a:t>
            </a:r>
            <a:endParaRPr lang="en-VG" dirty="0"/>
          </a:p>
        </p:txBody>
      </p:sp>
      <p:sp>
        <p:nvSpPr>
          <p:cNvPr id="4" name="Slide Number Placeholder 3"/>
          <p:cNvSpPr>
            <a:spLocks noGrp="1"/>
          </p:cNvSpPr>
          <p:nvPr>
            <p:ph type="sldNum" sz="quarter" idx="5"/>
          </p:nvPr>
        </p:nvSpPr>
        <p:spPr/>
        <p:txBody>
          <a:bodyPr/>
          <a:lstStyle/>
          <a:p>
            <a:fld id="{E65F46B1-174D-47CD-8558-B608D15F32CA}" type="slidenum">
              <a:rPr lang="en-VG" smtClean="0"/>
              <a:t>5</a:t>
            </a:fld>
            <a:endParaRPr lang="en-VG"/>
          </a:p>
        </p:txBody>
      </p:sp>
    </p:spTree>
    <p:extLst>
      <p:ext uri="{BB962C8B-B14F-4D97-AF65-F5344CB8AC3E}">
        <p14:creationId xmlns:p14="http://schemas.microsoft.com/office/powerpoint/2010/main" val="891799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authors of The Web Application Hacker's Handbook have tested hundreds of web applications in recent years. Figure shows what percentage of applications tested during 2007 and 2011 were found to be affected by some common categories of vulnerability.</a:t>
            </a:r>
            <a:endParaRPr lang="en-VG" dirty="0"/>
          </a:p>
        </p:txBody>
      </p:sp>
      <p:sp>
        <p:nvSpPr>
          <p:cNvPr id="4" name="Slide Number Placeholder 3"/>
          <p:cNvSpPr>
            <a:spLocks noGrp="1"/>
          </p:cNvSpPr>
          <p:nvPr>
            <p:ph type="sldNum" sz="quarter" idx="5"/>
          </p:nvPr>
        </p:nvSpPr>
        <p:spPr/>
        <p:txBody>
          <a:bodyPr/>
          <a:lstStyle/>
          <a:p>
            <a:fld id="{E65F46B1-174D-47CD-8558-B608D15F32CA}" type="slidenum">
              <a:rPr lang="en-VG" smtClean="0"/>
              <a:t>7</a:t>
            </a:fld>
            <a:endParaRPr lang="en-VG"/>
          </a:p>
        </p:txBody>
      </p:sp>
    </p:spTree>
    <p:extLst>
      <p:ext uri="{BB962C8B-B14F-4D97-AF65-F5344CB8AC3E}">
        <p14:creationId xmlns:p14="http://schemas.microsoft.com/office/powerpoint/2010/main" val="10397206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Equifax Data Breach - </a:t>
            </a:r>
            <a:r>
              <a:rPr lang="en-GB" dirty="0"/>
              <a:t>Equifax, a credit reporting agency, suffered a massive breach due to an unpatched vulnerability in </a:t>
            </a:r>
            <a:r>
              <a:rPr lang="en-GB" b="1" dirty="0"/>
              <a:t>Apache Struts</a:t>
            </a:r>
            <a:r>
              <a:rPr lang="en-GB" dirty="0"/>
              <a:t>, a third-party framework used in its web application.</a:t>
            </a:r>
          </a:p>
          <a:p>
            <a:endParaRPr lang="en-GB" dirty="0"/>
          </a:p>
          <a:p>
            <a:r>
              <a:rPr lang="en-GB" dirty="0"/>
              <a:t>A severe vulnerability (Log4Shell) was discovered in </a:t>
            </a:r>
            <a:r>
              <a:rPr lang="en-GB" b="1" dirty="0"/>
              <a:t>Log4j</a:t>
            </a:r>
            <a:r>
              <a:rPr lang="en-GB" dirty="0"/>
              <a:t>, a popular Java-based logging library. Many organizations were caught off-guard because they didn’t realize their systems relied on this library.</a:t>
            </a:r>
            <a:endParaRPr lang="en-VG" dirty="0"/>
          </a:p>
        </p:txBody>
      </p:sp>
      <p:sp>
        <p:nvSpPr>
          <p:cNvPr id="4" name="Slide Number Placeholder 3"/>
          <p:cNvSpPr>
            <a:spLocks noGrp="1"/>
          </p:cNvSpPr>
          <p:nvPr>
            <p:ph type="sldNum" sz="quarter" idx="5"/>
          </p:nvPr>
        </p:nvSpPr>
        <p:spPr/>
        <p:txBody>
          <a:bodyPr/>
          <a:lstStyle/>
          <a:p>
            <a:fld id="{E65F46B1-174D-47CD-8558-B608D15F32CA}" type="slidenum">
              <a:rPr lang="en-VG" smtClean="0"/>
              <a:t>12</a:t>
            </a:fld>
            <a:endParaRPr lang="en-VG"/>
          </a:p>
        </p:txBody>
      </p:sp>
    </p:spTree>
    <p:extLst>
      <p:ext uri="{BB962C8B-B14F-4D97-AF65-F5344CB8AC3E}">
        <p14:creationId xmlns:p14="http://schemas.microsoft.com/office/powerpoint/2010/main" val="36157717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en-GB" dirty="0"/>
              <a:t>Many hospitals have custom-built electronic medical record (EMR) systems tailored to their specific needs. These systems often suffer from unique bugs or compatibility issues because of custom code or third-party integrations.</a:t>
            </a:r>
          </a:p>
          <a:p>
            <a:pPr>
              <a:buFont typeface="Arial" panose="020B0604020202020204" pitchFamily="34" charset="0"/>
              <a:buChar char="•"/>
            </a:pPr>
            <a:r>
              <a:rPr lang="en-GB" dirty="0"/>
              <a:t>In contrast, organizations using standardized, off-the-shelf EMR systems (like Epic or Cerner) benefit from well-tested, industry-compliant solutions.</a:t>
            </a:r>
          </a:p>
          <a:p>
            <a:endParaRPr lang="en-VG" dirty="0"/>
          </a:p>
        </p:txBody>
      </p:sp>
      <p:sp>
        <p:nvSpPr>
          <p:cNvPr id="4" name="Slide Number Placeholder 3"/>
          <p:cNvSpPr>
            <a:spLocks noGrp="1"/>
          </p:cNvSpPr>
          <p:nvPr>
            <p:ph type="sldNum" sz="quarter" idx="5"/>
          </p:nvPr>
        </p:nvSpPr>
        <p:spPr/>
        <p:txBody>
          <a:bodyPr/>
          <a:lstStyle/>
          <a:p>
            <a:fld id="{E65F46B1-174D-47CD-8558-B608D15F32CA}" type="slidenum">
              <a:rPr lang="en-VG" smtClean="0"/>
              <a:t>13</a:t>
            </a:fld>
            <a:endParaRPr lang="en-VG"/>
          </a:p>
        </p:txBody>
      </p:sp>
    </p:spTree>
    <p:extLst>
      <p:ext uri="{BB962C8B-B14F-4D97-AF65-F5344CB8AC3E}">
        <p14:creationId xmlns:p14="http://schemas.microsoft.com/office/powerpoint/2010/main" val="40190553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en-GB" b="1" dirty="0"/>
              <a:t>Scenario:</a:t>
            </a:r>
            <a:r>
              <a:rPr lang="en-GB" dirty="0"/>
              <a:t> Modern cars are so automated that anyone can drive one without knowing how the engine, brakes, or transmission work. However, if something goes wrong, the driver won't know how to fix it or even recognize the warning signs of an impending issue.</a:t>
            </a:r>
          </a:p>
          <a:p>
            <a:pPr>
              <a:buFont typeface="Arial" panose="020B0604020202020204" pitchFamily="34" charset="0"/>
              <a:buChar char="•"/>
            </a:pPr>
            <a:r>
              <a:rPr lang="en-GB" b="1" dirty="0"/>
              <a:t>Connection:</a:t>
            </a:r>
            <a:r>
              <a:rPr lang="en-GB" dirty="0"/>
              <a:t> Development frameworks let developers "drive" their applications (create functionality) without understanding the underlying "engine" (codebase). This lack of technical understanding makes it hard to identify and fix vulnerabilities.</a:t>
            </a:r>
          </a:p>
          <a:p>
            <a:endParaRPr lang="en-GB" dirty="0"/>
          </a:p>
          <a:p>
            <a:r>
              <a:rPr lang="en-GB" dirty="0"/>
              <a:t>WordPress is one of the most popular content management systems, used by millions of websites. Its ease of use allows even non-technical users to create functional websites. However, vulnerabilities in WordPress core, plugins, or themes can lead to widespread exploitation. For example, the </a:t>
            </a:r>
            <a:r>
              <a:rPr lang="en-GB" b="1" dirty="0" err="1"/>
              <a:t>RevSlider</a:t>
            </a:r>
            <a:r>
              <a:rPr lang="en-GB" b="1" dirty="0"/>
              <a:t> plugin vulnerability</a:t>
            </a:r>
            <a:r>
              <a:rPr lang="en-GB" dirty="0"/>
              <a:t> was used in several attacks, impacting thousands of WordPress sites.</a:t>
            </a:r>
            <a:endParaRPr lang="en-VG" dirty="0"/>
          </a:p>
        </p:txBody>
      </p:sp>
      <p:sp>
        <p:nvSpPr>
          <p:cNvPr id="4" name="Slide Number Placeholder 3"/>
          <p:cNvSpPr>
            <a:spLocks noGrp="1"/>
          </p:cNvSpPr>
          <p:nvPr>
            <p:ph type="sldNum" sz="quarter" idx="5"/>
          </p:nvPr>
        </p:nvSpPr>
        <p:spPr/>
        <p:txBody>
          <a:bodyPr/>
          <a:lstStyle/>
          <a:p>
            <a:fld id="{E65F46B1-174D-47CD-8558-B608D15F32CA}" type="slidenum">
              <a:rPr lang="en-VG" smtClean="0"/>
              <a:t>14</a:t>
            </a:fld>
            <a:endParaRPr lang="en-VG"/>
          </a:p>
        </p:txBody>
      </p:sp>
    </p:spTree>
    <p:extLst>
      <p:ext uri="{BB962C8B-B14F-4D97-AF65-F5344CB8AC3E}">
        <p14:creationId xmlns:p14="http://schemas.microsoft.com/office/powerpoint/2010/main" val="27739511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How to stay up-to-date with current threats?</a:t>
            </a:r>
            <a:br>
              <a:rPr lang="en-GB" dirty="0"/>
            </a:br>
            <a:r>
              <a:rPr lang="en-GB" dirty="0"/>
              <a:t>Cyber threat intelligence</a:t>
            </a:r>
            <a:endParaRPr lang="en-VG" dirty="0"/>
          </a:p>
        </p:txBody>
      </p:sp>
      <p:sp>
        <p:nvSpPr>
          <p:cNvPr id="4" name="Slide Number Placeholder 3"/>
          <p:cNvSpPr>
            <a:spLocks noGrp="1"/>
          </p:cNvSpPr>
          <p:nvPr>
            <p:ph type="sldNum" sz="quarter" idx="5"/>
          </p:nvPr>
        </p:nvSpPr>
        <p:spPr/>
        <p:txBody>
          <a:bodyPr/>
          <a:lstStyle/>
          <a:p>
            <a:fld id="{E65F46B1-174D-47CD-8558-B608D15F32CA}" type="slidenum">
              <a:rPr lang="en-VG" smtClean="0"/>
              <a:t>15</a:t>
            </a:fld>
            <a:endParaRPr lang="en-VG"/>
          </a:p>
        </p:txBody>
      </p:sp>
    </p:spTree>
    <p:extLst>
      <p:ext uri="{BB962C8B-B14F-4D97-AF65-F5344CB8AC3E}">
        <p14:creationId xmlns:p14="http://schemas.microsoft.com/office/powerpoint/2010/main" val="21551664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typical small business might outsource web development to save costs and set tight deadlines to launch their application. They allocate minimal resources for security testing, often opting for a quick, budget-friendly penetration test. As a result, only basic vulnerabilities are identified, leaving the application exposed to advanced attacks.</a:t>
            </a:r>
            <a:endParaRPr lang="en-VG" dirty="0"/>
          </a:p>
        </p:txBody>
      </p:sp>
      <p:sp>
        <p:nvSpPr>
          <p:cNvPr id="4" name="Slide Number Placeholder 3"/>
          <p:cNvSpPr>
            <a:spLocks noGrp="1"/>
          </p:cNvSpPr>
          <p:nvPr>
            <p:ph type="sldNum" sz="quarter" idx="5"/>
          </p:nvPr>
        </p:nvSpPr>
        <p:spPr/>
        <p:txBody>
          <a:bodyPr/>
          <a:lstStyle/>
          <a:p>
            <a:fld id="{E65F46B1-174D-47CD-8558-B608D15F32CA}" type="slidenum">
              <a:rPr lang="en-VG" smtClean="0"/>
              <a:t>16</a:t>
            </a:fld>
            <a:endParaRPr lang="en-VG"/>
          </a:p>
        </p:txBody>
      </p:sp>
    </p:spTree>
    <p:extLst>
      <p:ext uri="{BB962C8B-B14F-4D97-AF65-F5344CB8AC3E}">
        <p14:creationId xmlns:p14="http://schemas.microsoft.com/office/powerpoint/2010/main" val="30878555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Scenario:</a:t>
            </a:r>
            <a:r>
              <a:rPr lang="en-GB" dirty="0"/>
              <a:t> A vintage car is retrofitted with modern features like GPS, automatic locks, and electric windows. While functional, the car's original design wasn't built to handle these upgrades, which may cause compatibility issues or breakdowns.</a:t>
            </a:r>
          </a:p>
          <a:p>
            <a:r>
              <a:rPr lang="en-GB" b="1" dirty="0"/>
              <a:t>Connection:</a:t>
            </a:r>
            <a:r>
              <a:rPr lang="en-GB" dirty="0"/>
              <a:t> Similarly, technologies like JavaScript and HTML, originally created for static content, are now adapted to power highly interactive applications. This stretching of capabilities introduces vulnerabilities because the foundations weren’t designed with today’s needs in mind.</a:t>
            </a:r>
          </a:p>
          <a:p>
            <a:endParaRPr lang="en-GB" dirty="0"/>
          </a:p>
          <a:p>
            <a:r>
              <a:rPr lang="en-GB" b="1" dirty="0"/>
              <a:t>Cookies</a:t>
            </a:r>
            <a:r>
              <a:rPr lang="en-GB" dirty="0"/>
              <a:t> were originally designed to </a:t>
            </a:r>
            <a:r>
              <a:rPr lang="en-GB" b="1" dirty="0"/>
              <a:t>store simple session data </a:t>
            </a:r>
            <a:r>
              <a:rPr lang="en-GB" dirty="0"/>
              <a:t>for user convenience. Over time, they became a key mechanism for </a:t>
            </a:r>
            <a:r>
              <a:rPr lang="en-GB" b="1" dirty="0"/>
              <a:t>authentication</a:t>
            </a:r>
            <a:r>
              <a:rPr lang="en-GB" dirty="0"/>
              <a:t>, </a:t>
            </a:r>
            <a:r>
              <a:rPr lang="en-GB" b="1" dirty="0"/>
              <a:t>tracking</a:t>
            </a:r>
            <a:r>
              <a:rPr lang="en-GB" dirty="0"/>
              <a:t>, and </a:t>
            </a:r>
            <a:r>
              <a:rPr lang="en-GB" b="1" dirty="0"/>
              <a:t>personalized</a:t>
            </a:r>
            <a:r>
              <a:rPr lang="en-GB" dirty="0"/>
              <a:t> </a:t>
            </a:r>
            <a:r>
              <a:rPr lang="en-GB" b="1" dirty="0"/>
              <a:t>user</a:t>
            </a:r>
            <a:r>
              <a:rPr lang="en-GB" dirty="0"/>
              <a:t> </a:t>
            </a:r>
            <a:r>
              <a:rPr lang="en-GB" b="1" dirty="0"/>
              <a:t>experiences</a:t>
            </a:r>
            <a:r>
              <a:rPr lang="en-GB" dirty="0"/>
              <a:t>. This overextension introduced vulnerabilities like </a:t>
            </a:r>
            <a:r>
              <a:rPr lang="en-GB" b="1" dirty="0"/>
              <a:t>session fixation</a:t>
            </a:r>
            <a:r>
              <a:rPr lang="en-GB" dirty="0"/>
              <a:t> and </a:t>
            </a:r>
            <a:r>
              <a:rPr lang="en-GB" b="1" dirty="0"/>
              <a:t>cookie theft</a:t>
            </a:r>
            <a:r>
              <a:rPr lang="en-GB" dirty="0"/>
              <a:t>, especially before the widespread adoption of secure flags like </a:t>
            </a:r>
            <a:r>
              <a:rPr lang="en-GB" dirty="0" err="1"/>
              <a:t>HttpOnly</a:t>
            </a:r>
            <a:r>
              <a:rPr lang="en-GB" dirty="0"/>
              <a:t> and Secure.</a:t>
            </a:r>
            <a:endParaRPr lang="en-VG" dirty="0"/>
          </a:p>
        </p:txBody>
      </p:sp>
      <p:sp>
        <p:nvSpPr>
          <p:cNvPr id="4" name="Slide Number Placeholder 3"/>
          <p:cNvSpPr>
            <a:spLocks noGrp="1"/>
          </p:cNvSpPr>
          <p:nvPr>
            <p:ph type="sldNum" sz="quarter" idx="5"/>
          </p:nvPr>
        </p:nvSpPr>
        <p:spPr/>
        <p:txBody>
          <a:bodyPr/>
          <a:lstStyle/>
          <a:p>
            <a:fld id="{E65F46B1-174D-47CD-8558-B608D15F32CA}" type="slidenum">
              <a:rPr lang="en-VG" smtClean="0"/>
              <a:t>17</a:t>
            </a:fld>
            <a:endParaRPr lang="en-VG"/>
          </a:p>
        </p:txBody>
      </p:sp>
    </p:spTree>
    <p:extLst>
      <p:ext uri="{BB962C8B-B14F-4D97-AF65-F5344CB8AC3E}">
        <p14:creationId xmlns:p14="http://schemas.microsoft.com/office/powerpoint/2010/main" val="19422033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Facebook's password recovery feature allows users to reset their passwords through email or SMS. While this feature enhances usability, attackers have exploited it in phishing campaigns to intercept recovery codes or gain access through weak recovery mechanisms.</a:t>
            </a:r>
          </a:p>
          <a:p>
            <a:r>
              <a:rPr lang="en-GB" dirty="0"/>
              <a:t>Many modern applications allow users to upload profile pictures or documents. However, attackers often exploit these features to upload malicious files, such as web shells, if proper validation is not in place.</a:t>
            </a:r>
            <a:endParaRPr lang="en-VG" dirty="0"/>
          </a:p>
        </p:txBody>
      </p:sp>
      <p:sp>
        <p:nvSpPr>
          <p:cNvPr id="4" name="Slide Number Placeholder 3"/>
          <p:cNvSpPr>
            <a:spLocks noGrp="1"/>
          </p:cNvSpPr>
          <p:nvPr>
            <p:ph type="sldNum" sz="quarter" idx="5"/>
          </p:nvPr>
        </p:nvSpPr>
        <p:spPr/>
        <p:txBody>
          <a:bodyPr/>
          <a:lstStyle/>
          <a:p>
            <a:fld id="{E65F46B1-174D-47CD-8558-B608D15F32CA}" type="slidenum">
              <a:rPr lang="en-VG" smtClean="0"/>
              <a:t>18</a:t>
            </a:fld>
            <a:endParaRPr lang="en-VG"/>
          </a:p>
        </p:txBody>
      </p:sp>
    </p:spTree>
    <p:extLst>
      <p:ext uri="{BB962C8B-B14F-4D97-AF65-F5344CB8AC3E}">
        <p14:creationId xmlns:p14="http://schemas.microsoft.com/office/powerpoint/2010/main" val="11046469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Network diagram</a:t>
            </a:r>
            <a:endParaRPr lang="en-VG" dirty="0"/>
          </a:p>
        </p:txBody>
      </p:sp>
      <p:sp>
        <p:nvSpPr>
          <p:cNvPr id="4" name="Slide Number Placeholder 3"/>
          <p:cNvSpPr>
            <a:spLocks noGrp="1"/>
          </p:cNvSpPr>
          <p:nvPr>
            <p:ph type="sldNum" sz="quarter" idx="5"/>
          </p:nvPr>
        </p:nvSpPr>
        <p:spPr/>
        <p:txBody>
          <a:bodyPr/>
          <a:lstStyle/>
          <a:p>
            <a:fld id="{E65F46B1-174D-47CD-8558-B608D15F32CA}" type="slidenum">
              <a:rPr lang="en-VG" smtClean="0"/>
              <a:t>19</a:t>
            </a:fld>
            <a:endParaRPr lang="en-VG"/>
          </a:p>
        </p:txBody>
      </p:sp>
    </p:spTree>
    <p:extLst>
      <p:ext uri="{BB962C8B-B14F-4D97-AF65-F5344CB8AC3E}">
        <p14:creationId xmlns:p14="http://schemas.microsoft.com/office/powerpoint/2010/main" val="1509749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An </a:t>
            </a:r>
            <a:r>
              <a:rPr lang="en-GB" b="1" dirty="0"/>
              <a:t>arcane protocol</a:t>
            </a:r>
            <a:r>
              <a:rPr lang="en-GB" dirty="0"/>
              <a:t> refers to a complex, obscure, or outdated communication protocol used to interact with a specific system, such as a mainframe. arcane protocol is the specialized method the bank's mainframe uses to communicate, which would require significant effort for the attacker to understand and exploit.</a:t>
            </a:r>
            <a:endParaRPr lang="en-VG" dirty="0"/>
          </a:p>
        </p:txBody>
      </p:sp>
      <p:sp>
        <p:nvSpPr>
          <p:cNvPr id="4" name="Slide Number Placeholder 3"/>
          <p:cNvSpPr>
            <a:spLocks noGrp="1"/>
          </p:cNvSpPr>
          <p:nvPr>
            <p:ph type="sldNum" sz="quarter" idx="5"/>
          </p:nvPr>
        </p:nvSpPr>
        <p:spPr/>
        <p:txBody>
          <a:bodyPr/>
          <a:lstStyle/>
          <a:p>
            <a:fld id="{E65F46B1-174D-47CD-8558-B608D15F32CA}" type="slidenum">
              <a:rPr lang="en-VG" smtClean="0"/>
              <a:t>20</a:t>
            </a:fld>
            <a:endParaRPr lang="en-VG"/>
          </a:p>
        </p:txBody>
      </p:sp>
    </p:spTree>
    <p:extLst>
      <p:ext uri="{BB962C8B-B14F-4D97-AF65-F5344CB8AC3E}">
        <p14:creationId xmlns:p14="http://schemas.microsoft.com/office/powerpoint/2010/main" val="10527589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Early web security revolved around protecting servers. SQL injection, command injection, and buffer overflow attacks dominated because they directly targeted server logic and data.</a:t>
            </a:r>
          </a:p>
          <a:p>
            <a:endParaRPr lang="en-GB" dirty="0"/>
          </a:p>
          <a:p>
            <a:r>
              <a:rPr lang="en-GB" dirty="0"/>
              <a:t>As server-side security matured (with frameworks enforcing input validation and prepared statements), attackers pivoted to targeting users via flaws like:</a:t>
            </a:r>
          </a:p>
          <a:p>
            <a:r>
              <a:rPr lang="en-GB" b="1" dirty="0"/>
              <a:t>Cross-Site Scripting (XSS):</a:t>
            </a:r>
            <a:r>
              <a:rPr lang="en-GB" dirty="0"/>
              <a:t> Injecting malicious scripts into web pages that execute in a user’s browser.</a:t>
            </a:r>
          </a:p>
          <a:p>
            <a:r>
              <a:rPr lang="en-GB" b="1" dirty="0"/>
              <a:t>Cross-Site Request Forgery (CSRF):</a:t>
            </a:r>
            <a:r>
              <a:rPr lang="en-GB" dirty="0"/>
              <a:t> Trick users into performing unwanted actions (e.g., transferring money).</a:t>
            </a:r>
          </a:p>
          <a:p>
            <a:r>
              <a:rPr lang="en-GB" b="1" dirty="0"/>
              <a:t>Social Engineering + App Flaws:</a:t>
            </a:r>
            <a:r>
              <a:rPr lang="en-GB" dirty="0"/>
              <a:t> Using phishing or impersonation to steal credentials and abuse application trust.</a:t>
            </a:r>
          </a:p>
          <a:p>
            <a:endParaRPr lang="en-VG" dirty="0"/>
          </a:p>
        </p:txBody>
      </p:sp>
      <p:sp>
        <p:nvSpPr>
          <p:cNvPr id="4" name="Slide Number Placeholder 3"/>
          <p:cNvSpPr>
            <a:spLocks noGrp="1"/>
          </p:cNvSpPr>
          <p:nvPr>
            <p:ph type="sldNum" sz="quarter" idx="5"/>
          </p:nvPr>
        </p:nvSpPr>
        <p:spPr/>
        <p:txBody>
          <a:bodyPr/>
          <a:lstStyle/>
          <a:p>
            <a:fld id="{E65F46B1-174D-47CD-8558-B608D15F32CA}" type="slidenum">
              <a:rPr lang="en-VG" smtClean="0"/>
              <a:t>21</a:t>
            </a:fld>
            <a:endParaRPr lang="en-VG"/>
          </a:p>
        </p:txBody>
      </p:sp>
    </p:spTree>
    <p:extLst>
      <p:ext uri="{BB962C8B-B14F-4D97-AF65-F5344CB8AC3E}">
        <p14:creationId xmlns:p14="http://schemas.microsoft.com/office/powerpoint/2010/main" val="17475154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BE5E2-2036-4EF0-93EA-F0A7625269A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VG"/>
          </a:p>
        </p:txBody>
      </p:sp>
      <p:sp>
        <p:nvSpPr>
          <p:cNvPr id="3" name="Subtitle 2">
            <a:extLst>
              <a:ext uri="{FF2B5EF4-FFF2-40B4-BE49-F238E27FC236}">
                <a16:creationId xmlns:a16="http://schemas.microsoft.com/office/drawing/2014/main" id="{B2184DA9-CDEB-45B2-A546-7170D22CA68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VG"/>
          </a:p>
        </p:txBody>
      </p:sp>
      <p:sp>
        <p:nvSpPr>
          <p:cNvPr id="4" name="Date Placeholder 3">
            <a:extLst>
              <a:ext uri="{FF2B5EF4-FFF2-40B4-BE49-F238E27FC236}">
                <a16:creationId xmlns:a16="http://schemas.microsoft.com/office/drawing/2014/main" id="{C843720C-4F0F-413F-9A61-3B9D3852A8DC}"/>
              </a:ext>
            </a:extLst>
          </p:cNvPr>
          <p:cNvSpPr>
            <a:spLocks noGrp="1"/>
          </p:cNvSpPr>
          <p:nvPr>
            <p:ph type="dt" sz="half" idx="10"/>
          </p:nvPr>
        </p:nvSpPr>
        <p:spPr/>
        <p:txBody>
          <a:bodyPr/>
          <a:lstStyle/>
          <a:p>
            <a:fld id="{D7964993-6721-4FD0-A6E6-1D6E15719B89}" type="datetimeFigureOut">
              <a:rPr lang="en-VG" smtClean="0"/>
              <a:t>14/12/2024</a:t>
            </a:fld>
            <a:endParaRPr lang="en-VG"/>
          </a:p>
        </p:txBody>
      </p:sp>
      <p:sp>
        <p:nvSpPr>
          <p:cNvPr id="5" name="Footer Placeholder 4">
            <a:extLst>
              <a:ext uri="{FF2B5EF4-FFF2-40B4-BE49-F238E27FC236}">
                <a16:creationId xmlns:a16="http://schemas.microsoft.com/office/drawing/2014/main" id="{7E772E62-7905-4F26-9A85-86520C29548D}"/>
              </a:ext>
            </a:extLst>
          </p:cNvPr>
          <p:cNvSpPr>
            <a:spLocks noGrp="1"/>
          </p:cNvSpPr>
          <p:nvPr>
            <p:ph type="ftr" sz="quarter" idx="11"/>
          </p:nvPr>
        </p:nvSpPr>
        <p:spPr/>
        <p:txBody>
          <a:bodyPr/>
          <a:lstStyle/>
          <a:p>
            <a:endParaRPr lang="en-VG"/>
          </a:p>
        </p:txBody>
      </p:sp>
      <p:sp>
        <p:nvSpPr>
          <p:cNvPr id="6" name="Slide Number Placeholder 5">
            <a:extLst>
              <a:ext uri="{FF2B5EF4-FFF2-40B4-BE49-F238E27FC236}">
                <a16:creationId xmlns:a16="http://schemas.microsoft.com/office/drawing/2014/main" id="{5D57CA68-43EA-406A-BFD6-FB54A8E8E027}"/>
              </a:ext>
            </a:extLst>
          </p:cNvPr>
          <p:cNvSpPr>
            <a:spLocks noGrp="1"/>
          </p:cNvSpPr>
          <p:nvPr>
            <p:ph type="sldNum" sz="quarter" idx="12"/>
          </p:nvPr>
        </p:nvSpPr>
        <p:spPr/>
        <p:txBody>
          <a:bodyPr/>
          <a:lstStyle/>
          <a:p>
            <a:fld id="{4DB8A365-4110-457C-ABC0-180ACDD07991}" type="slidenum">
              <a:rPr lang="en-VG" smtClean="0"/>
              <a:t>‹#›</a:t>
            </a:fld>
            <a:endParaRPr lang="en-VG"/>
          </a:p>
        </p:txBody>
      </p:sp>
    </p:spTree>
    <p:extLst>
      <p:ext uri="{BB962C8B-B14F-4D97-AF65-F5344CB8AC3E}">
        <p14:creationId xmlns:p14="http://schemas.microsoft.com/office/powerpoint/2010/main" val="10432349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5C335-2B55-404A-8FC6-53E83A987BDA}"/>
              </a:ext>
            </a:extLst>
          </p:cNvPr>
          <p:cNvSpPr>
            <a:spLocks noGrp="1"/>
          </p:cNvSpPr>
          <p:nvPr>
            <p:ph type="title"/>
          </p:nvPr>
        </p:nvSpPr>
        <p:spPr/>
        <p:txBody>
          <a:bodyPr/>
          <a:lstStyle/>
          <a:p>
            <a:r>
              <a:rPr lang="en-US"/>
              <a:t>Click to edit Master title style</a:t>
            </a:r>
            <a:endParaRPr lang="en-VG"/>
          </a:p>
        </p:txBody>
      </p:sp>
      <p:sp>
        <p:nvSpPr>
          <p:cNvPr id="3" name="Content Placeholder 2">
            <a:extLst>
              <a:ext uri="{FF2B5EF4-FFF2-40B4-BE49-F238E27FC236}">
                <a16:creationId xmlns:a16="http://schemas.microsoft.com/office/drawing/2014/main" id="{8C809917-FCB8-4C20-982C-E07752BF5FD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G"/>
          </a:p>
        </p:txBody>
      </p:sp>
      <p:sp>
        <p:nvSpPr>
          <p:cNvPr id="4" name="Date Placeholder 3">
            <a:extLst>
              <a:ext uri="{FF2B5EF4-FFF2-40B4-BE49-F238E27FC236}">
                <a16:creationId xmlns:a16="http://schemas.microsoft.com/office/drawing/2014/main" id="{CD2C2106-2D83-4AAE-8DF9-B6724D3FA494}"/>
              </a:ext>
            </a:extLst>
          </p:cNvPr>
          <p:cNvSpPr>
            <a:spLocks noGrp="1"/>
          </p:cNvSpPr>
          <p:nvPr>
            <p:ph type="dt" sz="half" idx="10"/>
          </p:nvPr>
        </p:nvSpPr>
        <p:spPr/>
        <p:txBody>
          <a:bodyPr/>
          <a:lstStyle/>
          <a:p>
            <a:fld id="{D7964993-6721-4FD0-A6E6-1D6E15719B89}" type="datetimeFigureOut">
              <a:rPr lang="en-VG" smtClean="0"/>
              <a:t>14/12/2024</a:t>
            </a:fld>
            <a:endParaRPr lang="en-VG"/>
          </a:p>
        </p:txBody>
      </p:sp>
      <p:sp>
        <p:nvSpPr>
          <p:cNvPr id="5" name="Footer Placeholder 4">
            <a:extLst>
              <a:ext uri="{FF2B5EF4-FFF2-40B4-BE49-F238E27FC236}">
                <a16:creationId xmlns:a16="http://schemas.microsoft.com/office/drawing/2014/main" id="{045F6AFA-F950-4F48-B5FC-39E86AFAACB0}"/>
              </a:ext>
            </a:extLst>
          </p:cNvPr>
          <p:cNvSpPr>
            <a:spLocks noGrp="1"/>
          </p:cNvSpPr>
          <p:nvPr>
            <p:ph type="ftr" sz="quarter" idx="11"/>
          </p:nvPr>
        </p:nvSpPr>
        <p:spPr/>
        <p:txBody>
          <a:bodyPr/>
          <a:lstStyle/>
          <a:p>
            <a:endParaRPr lang="en-VG"/>
          </a:p>
        </p:txBody>
      </p:sp>
      <p:sp>
        <p:nvSpPr>
          <p:cNvPr id="6" name="Slide Number Placeholder 5">
            <a:extLst>
              <a:ext uri="{FF2B5EF4-FFF2-40B4-BE49-F238E27FC236}">
                <a16:creationId xmlns:a16="http://schemas.microsoft.com/office/drawing/2014/main" id="{6063DBCF-0AE1-4BB8-9828-782332BA62DA}"/>
              </a:ext>
            </a:extLst>
          </p:cNvPr>
          <p:cNvSpPr>
            <a:spLocks noGrp="1"/>
          </p:cNvSpPr>
          <p:nvPr>
            <p:ph type="sldNum" sz="quarter" idx="12"/>
          </p:nvPr>
        </p:nvSpPr>
        <p:spPr/>
        <p:txBody>
          <a:bodyPr/>
          <a:lstStyle/>
          <a:p>
            <a:fld id="{4DB8A365-4110-457C-ABC0-180ACDD07991}" type="slidenum">
              <a:rPr lang="en-VG" smtClean="0"/>
              <a:t>‹#›</a:t>
            </a:fld>
            <a:endParaRPr lang="en-VG"/>
          </a:p>
        </p:txBody>
      </p:sp>
    </p:spTree>
    <p:extLst>
      <p:ext uri="{BB962C8B-B14F-4D97-AF65-F5344CB8AC3E}">
        <p14:creationId xmlns:p14="http://schemas.microsoft.com/office/powerpoint/2010/main" val="2402835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B0096-9D01-48E9-BDE3-01DE5863035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VG"/>
          </a:p>
        </p:txBody>
      </p:sp>
      <p:sp>
        <p:nvSpPr>
          <p:cNvPr id="3" name="Text Placeholder 2">
            <a:extLst>
              <a:ext uri="{FF2B5EF4-FFF2-40B4-BE49-F238E27FC236}">
                <a16:creationId xmlns:a16="http://schemas.microsoft.com/office/drawing/2014/main" id="{6D902454-1BFB-4544-9F07-5485A23AB53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B78F711-9BA8-4A5B-BB48-74780AB74111}"/>
              </a:ext>
            </a:extLst>
          </p:cNvPr>
          <p:cNvSpPr>
            <a:spLocks noGrp="1"/>
          </p:cNvSpPr>
          <p:nvPr>
            <p:ph type="dt" sz="half" idx="10"/>
          </p:nvPr>
        </p:nvSpPr>
        <p:spPr/>
        <p:txBody>
          <a:bodyPr/>
          <a:lstStyle/>
          <a:p>
            <a:fld id="{D7964993-6721-4FD0-A6E6-1D6E15719B89}" type="datetimeFigureOut">
              <a:rPr lang="en-VG" smtClean="0"/>
              <a:t>14/12/2024</a:t>
            </a:fld>
            <a:endParaRPr lang="en-VG"/>
          </a:p>
        </p:txBody>
      </p:sp>
      <p:sp>
        <p:nvSpPr>
          <p:cNvPr id="5" name="Footer Placeholder 4">
            <a:extLst>
              <a:ext uri="{FF2B5EF4-FFF2-40B4-BE49-F238E27FC236}">
                <a16:creationId xmlns:a16="http://schemas.microsoft.com/office/drawing/2014/main" id="{C6338BF5-82E6-4A5B-9C1E-5DE64195E822}"/>
              </a:ext>
            </a:extLst>
          </p:cNvPr>
          <p:cNvSpPr>
            <a:spLocks noGrp="1"/>
          </p:cNvSpPr>
          <p:nvPr>
            <p:ph type="ftr" sz="quarter" idx="11"/>
          </p:nvPr>
        </p:nvSpPr>
        <p:spPr/>
        <p:txBody>
          <a:bodyPr/>
          <a:lstStyle/>
          <a:p>
            <a:endParaRPr lang="en-VG"/>
          </a:p>
        </p:txBody>
      </p:sp>
      <p:sp>
        <p:nvSpPr>
          <p:cNvPr id="6" name="Slide Number Placeholder 5">
            <a:extLst>
              <a:ext uri="{FF2B5EF4-FFF2-40B4-BE49-F238E27FC236}">
                <a16:creationId xmlns:a16="http://schemas.microsoft.com/office/drawing/2014/main" id="{37BAF0B0-DD72-4DFF-B3C4-0E3789C793A2}"/>
              </a:ext>
            </a:extLst>
          </p:cNvPr>
          <p:cNvSpPr>
            <a:spLocks noGrp="1"/>
          </p:cNvSpPr>
          <p:nvPr>
            <p:ph type="sldNum" sz="quarter" idx="12"/>
          </p:nvPr>
        </p:nvSpPr>
        <p:spPr/>
        <p:txBody>
          <a:bodyPr/>
          <a:lstStyle/>
          <a:p>
            <a:fld id="{4DB8A365-4110-457C-ABC0-180ACDD07991}" type="slidenum">
              <a:rPr lang="en-VG" smtClean="0"/>
              <a:t>‹#›</a:t>
            </a:fld>
            <a:endParaRPr lang="en-VG"/>
          </a:p>
        </p:txBody>
      </p:sp>
    </p:spTree>
    <p:extLst>
      <p:ext uri="{BB962C8B-B14F-4D97-AF65-F5344CB8AC3E}">
        <p14:creationId xmlns:p14="http://schemas.microsoft.com/office/powerpoint/2010/main" val="23739875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912F3-A859-47E2-9BB0-EF2440953A1F}"/>
              </a:ext>
            </a:extLst>
          </p:cNvPr>
          <p:cNvSpPr>
            <a:spLocks noGrp="1"/>
          </p:cNvSpPr>
          <p:nvPr>
            <p:ph type="title"/>
          </p:nvPr>
        </p:nvSpPr>
        <p:spPr/>
        <p:txBody>
          <a:bodyPr/>
          <a:lstStyle/>
          <a:p>
            <a:r>
              <a:rPr lang="en-US"/>
              <a:t>Click to edit Master title style</a:t>
            </a:r>
            <a:endParaRPr lang="en-VG"/>
          </a:p>
        </p:txBody>
      </p:sp>
      <p:sp>
        <p:nvSpPr>
          <p:cNvPr id="3" name="Content Placeholder 2">
            <a:extLst>
              <a:ext uri="{FF2B5EF4-FFF2-40B4-BE49-F238E27FC236}">
                <a16:creationId xmlns:a16="http://schemas.microsoft.com/office/drawing/2014/main" id="{1E5E4C7E-CC33-45B3-9E36-437BD190EA4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G"/>
          </a:p>
        </p:txBody>
      </p:sp>
      <p:sp>
        <p:nvSpPr>
          <p:cNvPr id="4" name="Content Placeholder 3">
            <a:extLst>
              <a:ext uri="{FF2B5EF4-FFF2-40B4-BE49-F238E27FC236}">
                <a16:creationId xmlns:a16="http://schemas.microsoft.com/office/drawing/2014/main" id="{E935B5E1-1CAC-4046-B8F9-4C24300E5B8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G"/>
          </a:p>
        </p:txBody>
      </p:sp>
      <p:sp>
        <p:nvSpPr>
          <p:cNvPr id="5" name="Date Placeholder 4">
            <a:extLst>
              <a:ext uri="{FF2B5EF4-FFF2-40B4-BE49-F238E27FC236}">
                <a16:creationId xmlns:a16="http://schemas.microsoft.com/office/drawing/2014/main" id="{8A21F327-3063-48FE-9DE2-9E43EEF6B3B1}"/>
              </a:ext>
            </a:extLst>
          </p:cNvPr>
          <p:cNvSpPr>
            <a:spLocks noGrp="1"/>
          </p:cNvSpPr>
          <p:nvPr>
            <p:ph type="dt" sz="half" idx="10"/>
          </p:nvPr>
        </p:nvSpPr>
        <p:spPr/>
        <p:txBody>
          <a:bodyPr/>
          <a:lstStyle/>
          <a:p>
            <a:fld id="{D7964993-6721-4FD0-A6E6-1D6E15719B89}" type="datetimeFigureOut">
              <a:rPr lang="en-VG" smtClean="0"/>
              <a:t>14/12/2024</a:t>
            </a:fld>
            <a:endParaRPr lang="en-VG"/>
          </a:p>
        </p:txBody>
      </p:sp>
      <p:sp>
        <p:nvSpPr>
          <p:cNvPr id="6" name="Footer Placeholder 5">
            <a:extLst>
              <a:ext uri="{FF2B5EF4-FFF2-40B4-BE49-F238E27FC236}">
                <a16:creationId xmlns:a16="http://schemas.microsoft.com/office/drawing/2014/main" id="{163E1869-C231-4FE5-94A3-FC6A6855729D}"/>
              </a:ext>
            </a:extLst>
          </p:cNvPr>
          <p:cNvSpPr>
            <a:spLocks noGrp="1"/>
          </p:cNvSpPr>
          <p:nvPr>
            <p:ph type="ftr" sz="quarter" idx="11"/>
          </p:nvPr>
        </p:nvSpPr>
        <p:spPr/>
        <p:txBody>
          <a:bodyPr/>
          <a:lstStyle/>
          <a:p>
            <a:endParaRPr lang="en-VG"/>
          </a:p>
        </p:txBody>
      </p:sp>
      <p:sp>
        <p:nvSpPr>
          <p:cNvPr id="7" name="Slide Number Placeholder 6">
            <a:extLst>
              <a:ext uri="{FF2B5EF4-FFF2-40B4-BE49-F238E27FC236}">
                <a16:creationId xmlns:a16="http://schemas.microsoft.com/office/drawing/2014/main" id="{9006C20C-3277-4F14-9A83-E6C778E138EA}"/>
              </a:ext>
            </a:extLst>
          </p:cNvPr>
          <p:cNvSpPr>
            <a:spLocks noGrp="1"/>
          </p:cNvSpPr>
          <p:nvPr>
            <p:ph type="sldNum" sz="quarter" idx="12"/>
          </p:nvPr>
        </p:nvSpPr>
        <p:spPr/>
        <p:txBody>
          <a:bodyPr/>
          <a:lstStyle/>
          <a:p>
            <a:fld id="{4DB8A365-4110-457C-ABC0-180ACDD07991}" type="slidenum">
              <a:rPr lang="en-VG" smtClean="0"/>
              <a:t>‹#›</a:t>
            </a:fld>
            <a:endParaRPr lang="en-VG"/>
          </a:p>
        </p:txBody>
      </p:sp>
    </p:spTree>
    <p:extLst>
      <p:ext uri="{BB962C8B-B14F-4D97-AF65-F5344CB8AC3E}">
        <p14:creationId xmlns:p14="http://schemas.microsoft.com/office/powerpoint/2010/main" val="16286982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45A85-191E-4DB5-A062-728E840BDF09}"/>
              </a:ext>
            </a:extLst>
          </p:cNvPr>
          <p:cNvSpPr>
            <a:spLocks noGrp="1"/>
          </p:cNvSpPr>
          <p:nvPr>
            <p:ph type="title"/>
          </p:nvPr>
        </p:nvSpPr>
        <p:spPr>
          <a:xfrm>
            <a:off x="839788" y="365125"/>
            <a:ext cx="10515600" cy="1325563"/>
          </a:xfrm>
        </p:spPr>
        <p:txBody>
          <a:bodyPr/>
          <a:lstStyle/>
          <a:p>
            <a:r>
              <a:rPr lang="en-US"/>
              <a:t>Click to edit Master title style</a:t>
            </a:r>
            <a:endParaRPr lang="en-VG"/>
          </a:p>
        </p:txBody>
      </p:sp>
      <p:sp>
        <p:nvSpPr>
          <p:cNvPr id="3" name="Text Placeholder 2">
            <a:extLst>
              <a:ext uri="{FF2B5EF4-FFF2-40B4-BE49-F238E27FC236}">
                <a16:creationId xmlns:a16="http://schemas.microsoft.com/office/drawing/2014/main" id="{994DDAAD-EF0D-4355-808B-DFFE09CE953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3EDBF67-3B0D-49D8-9D3E-34412A022C5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G"/>
          </a:p>
        </p:txBody>
      </p:sp>
      <p:sp>
        <p:nvSpPr>
          <p:cNvPr id="5" name="Text Placeholder 4">
            <a:extLst>
              <a:ext uri="{FF2B5EF4-FFF2-40B4-BE49-F238E27FC236}">
                <a16:creationId xmlns:a16="http://schemas.microsoft.com/office/drawing/2014/main" id="{C0E92286-C3FF-4B41-AF12-18471B09677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668FD5C-777D-46B4-8CCD-8781D1064CC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G"/>
          </a:p>
        </p:txBody>
      </p:sp>
      <p:sp>
        <p:nvSpPr>
          <p:cNvPr id="7" name="Date Placeholder 6">
            <a:extLst>
              <a:ext uri="{FF2B5EF4-FFF2-40B4-BE49-F238E27FC236}">
                <a16:creationId xmlns:a16="http://schemas.microsoft.com/office/drawing/2014/main" id="{171C552A-BCE6-4523-B344-DCB590D84FA8}"/>
              </a:ext>
            </a:extLst>
          </p:cNvPr>
          <p:cNvSpPr>
            <a:spLocks noGrp="1"/>
          </p:cNvSpPr>
          <p:nvPr>
            <p:ph type="dt" sz="half" idx="10"/>
          </p:nvPr>
        </p:nvSpPr>
        <p:spPr/>
        <p:txBody>
          <a:bodyPr/>
          <a:lstStyle/>
          <a:p>
            <a:fld id="{D7964993-6721-4FD0-A6E6-1D6E15719B89}" type="datetimeFigureOut">
              <a:rPr lang="en-VG" smtClean="0"/>
              <a:t>14/12/2024</a:t>
            </a:fld>
            <a:endParaRPr lang="en-VG"/>
          </a:p>
        </p:txBody>
      </p:sp>
      <p:sp>
        <p:nvSpPr>
          <p:cNvPr id="8" name="Footer Placeholder 7">
            <a:extLst>
              <a:ext uri="{FF2B5EF4-FFF2-40B4-BE49-F238E27FC236}">
                <a16:creationId xmlns:a16="http://schemas.microsoft.com/office/drawing/2014/main" id="{0A5CE16A-6FAB-4471-BF48-3F06C3072EA7}"/>
              </a:ext>
            </a:extLst>
          </p:cNvPr>
          <p:cNvSpPr>
            <a:spLocks noGrp="1"/>
          </p:cNvSpPr>
          <p:nvPr>
            <p:ph type="ftr" sz="quarter" idx="11"/>
          </p:nvPr>
        </p:nvSpPr>
        <p:spPr/>
        <p:txBody>
          <a:bodyPr/>
          <a:lstStyle/>
          <a:p>
            <a:endParaRPr lang="en-VG"/>
          </a:p>
        </p:txBody>
      </p:sp>
      <p:sp>
        <p:nvSpPr>
          <p:cNvPr id="9" name="Slide Number Placeholder 8">
            <a:extLst>
              <a:ext uri="{FF2B5EF4-FFF2-40B4-BE49-F238E27FC236}">
                <a16:creationId xmlns:a16="http://schemas.microsoft.com/office/drawing/2014/main" id="{081EDF10-F907-4C11-9364-7DBE73804B07}"/>
              </a:ext>
            </a:extLst>
          </p:cNvPr>
          <p:cNvSpPr>
            <a:spLocks noGrp="1"/>
          </p:cNvSpPr>
          <p:nvPr>
            <p:ph type="sldNum" sz="quarter" idx="12"/>
          </p:nvPr>
        </p:nvSpPr>
        <p:spPr/>
        <p:txBody>
          <a:bodyPr/>
          <a:lstStyle/>
          <a:p>
            <a:fld id="{4DB8A365-4110-457C-ABC0-180ACDD07991}" type="slidenum">
              <a:rPr lang="en-VG" smtClean="0"/>
              <a:t>‹#›</a:t>
            </a:fld>
            <a:endParaRPr lang="en-VG"/>
          </a:p>
        </p:txBody>
      </p:sp>
    </p:spTree>
    <p:extLst>
      <p:ext uri="{BB962C8B-B14F-4D97-AF65-F5344CB8AC3E}">
        <p14:creationId xmlns:p14="http://schemas.microsoft.com/office/powerpoint/2010/main" val="18332780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36C00-D364-49EF-B184-8F969008D40D}"/>
              </a:ext>
            </a:extLst>
          </p:cNvPr>
          <p:cNvSpPr>
            <a:spLocks noGrp="1"/>
          </p:cNvSpPr>
          <p:nvPr>
            <p:ph type="title"/>
          </p:nvPr>
        </p:nvSpPr>
        <p:spPr/>
        <p:txBody>
          <a:bodyPr/>
          <a:lstStyle/>
          <a:p>
            <a:r>
              <a:rPr lang="en-US"/>
              <a:t>Click to edit Master title style</a:t>
            </a:r>
            <a:endParaRPr lang="en-VG"/>
          </a:p>
        </p:txBody>
      </p:sp>
      <p:sp>
        <p:nvSpPr>
          <p:cNvPr id="3" name="Date Placeholder 2">
            <a:extLst>
              <a:ext uri="{FF2B5EF4-FFF2-40B4-BE49-F238E27FC236}">
                <a16:creationId xmlns:a16="http://schemas.microsoft.com/office/drawing/2014/main" id="{00B79ECF-1B9B-4AD9-9C3D-F6555B3394C5}"/>
              </a:ext>
            </a:extLst>
          </p:cNvPr>
          <p:cNvSpPr>
            <a:spLocks noGrp="1"/>
          </p:cNvSpPr>
          <p:nvPr>
            <p:ph type="dt" sz="half" idx="10"/>
          </p:nvPr>
        </p:nvSpPr>
        <p:spPr/>
        <p:txBody>
          <a:bodyPr/>
          <a:lstStyle/>
          <a:p>
            <a:fld id="{D7964993-6721-4FD0-A6E6-1D6E15719B89}" type="datetimeFigureOut">
              <a:rPr lang="en-VG" smtClean="0"/>
              <a:t>14/12/2024</a:t>
            </a:fld>
            <a:endParaRPr lang="en-VG"/>
          </a:p>
        </p:txBody>
      </p:sp>
      <p:sp>
        <p:nvSpPr>
          <p:cNvPr id="4" name="Footer Placeholder 3">
            <a:extLst>
              <a:ext uri="{FF2B5EF4-FFF2-40B4-BE49-F238E27FC236}">
                <a16:creationId xmlns:a16="http://schemas.microsoft.com/office/drawing/2014/main" id="{449F0F6D-9648-47CC-A4E5-805197CAEF9C}"/>
              </a:ext>
            </a:extLst>
          </p:cNvPr>
          <p:cNvSpPr>
            <a:spLocks noGrp="1"/>
          </p:cNvSpPr>
          <p:nvPr>
            <p:ph type="ftr" sz="quarter" idx="11"/>
          </p:nvPr>
        </p:nvSpPr>
        <p:spPr/>
        <p:txBody>
          <a:bodyPr/>
          <a:lstStyle/>
          <a:p>
            <a:endParaRPr lang="en-VG"/>
          </a:p>
        </p:txBody>
      </p:sp>
      <p:sp>
        <p:nvSpPr>
          <p:cNvPr id="5" name="Slide Number Placeholder 4">
            <a:extLst>
              <a:ext uri="{FF2B5EF4-FFF2-40B4-BE49-F238E27FC236}">
                <a16:creationId xmlns:a16="http://schemas.microsoft.com/office/drawing/2014/main" id="{7700D00D-B9F7-4B3F-9670-A64C97C8FAF4}"/>
              </a:ext>
            </a:extLst>
          </p:cNvPr>
          <p:cNvSpPr>
            <a:spLocks noGrp="1"/>
          </p:cNvSpPr>
          <p:nvPr>
            <p:ph type="sldNum" sz="quarter" idx="12"/>
          </p:nvPr>
        </p:nvSpPr>
        <p:spPr/>
        <p:txBody>
          <a:bodyPr/>
          <a:lstStyle/>
          <a:p>
            <a:fld id="{4DB8A365-4110-457C-ABC0-180ACDD07991}" type="slidenum">
              <a:rPr lang="en-VG" smtClean="0"/>
              <a:t>‹#›</a:t>
            </a:fld>
            <a:endParaRPr lang="en-VG"/>
          </a:p>
        </p:txBody>
      </p:sp>
    </p:spTree>
    <p:extLst>
      <p:ext uri="{BB962C8B-B14F-4D97-AF65-F5344CB8AC3E}">
        <p14:creationId xmlns:p14="http://schemas.microsoft.com/office/powerpoint/2010/main" val="21222570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D4E6383-69AA-4AA7-B4AD-BC434D2F0E05}"/>
              </a:ext>
            </a:extLst>
          </p:cNvPr>
          <p:cNvSpPr>
            <a:spLocks noGrp="1"/>
          </p:cNvSpPr>
          <p:nvPr>
            <p:ph type="dt" sz="half" idx="10"/>
          </p:nvPr>
        </p:nvSpPr>
        <p:spPr/>
        <p:txBody>
          <a:bodyPr/>
          <a:lstStyle/>
          <a:p>
            <a:fld id="{D7964993-6721-4FD0-A6E6-1D6E15719B89}" type="datetimeFigureOut">
              <a:rPr lang="en-VG" smtClean="0"/>
              <a:t>14/12/2024</a:t>
            </a:fld>
            <a:endParaRPr lang="en-VG"/>
          </a:p>
        </p:txBody>
      </p:sp>
      <p:sp>
        <p:nvSpPr>
          <p:cNvPr id="3" name="Footer Placeholder 2">
            <a:extLst>
              <a:ext uri="{FF2B5EF4-FFF2-40B4-BE49-F238E27FC236}">
                <a16:creationId xmlns:a16="http://schemas.microsoft.com/office/drawing/2014/main" id="{6F96C527-520C-4F85-B5C5-B2285B234C7F}"/>
              </a:ext>
            </a:extLst>
          </p:cNvPr>
          <p:cNvSpPr>
            <a:spLocks noGrp="1"/>
          </p:cNvSpPr>
          <p:nvPr>
            <p:ph type="ftr" sz="quarter" idx="11"/>
          </p:nvPr>
        </p:nvSpPr>
        <p:spPr/>
        <p:txBody>
          <a:bodyPr/>
          <a:lstStyle/>
          <a:p>
            <a:endParaRPr lang="en-VG"/>
          </a:p>
        </p:txBody>
      </p:sp>
      <p:sp>
        <p:nvSpPr>
          <p:cNvPr id="4" name="Slide Number Placeholder 3">
            <a:extLst>
              <a:ext uri="{FF2B5EF4-FFF2-40B4-BE49-F238E27FC236}">
                <a16:creationId xmlns:a16="http://schemas.microsoft.com/office/drawing/2014/main" id="{8860E717-A423-4CED-B7A6-27DF226FE695}"/>
              </a:ext>
            </a:extLst>
          </p:cNvPr>
          <p:cNvSpPr>
            <a:spLocks noGrp="1"/>
          </p:cNvSpPr>
          <p:nvPr>
            <p:ph type="sldNum" sz="quarter" idx="12"/>
          </p:nvPr>
        </p:nvSpPr>
        <p:spPr/>
        <p:txBody>
          <a:bodyPr/>
          <a:lstStyle/>
          <a:p>
            <a:fld id="{4DB8A365-4110-457C-ABC0-180ACDD07991}" type="slidenum">
              <a:rPr lang="en-VG" smtClean="0"/>
              <a:t>‹#›</a:t>
            </a:fld>
            <a:endParaRPr lang="en-VG"/>
          </a:p>
        </p:txBody>
      </p:sp>
    </p:spTree>
    <p:extLst>
      <p:ext uri="{BB962C8B-B14F-4D97-AF65-F5344CB8AC3E}">
        <p14:creationId xmlns:p14="http://schemas.microsoft.com/office/powerpoint/2010/main" val="8300664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50116-C758-47BB-A4CE-529CC13A3E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VG"/>
          </a:p>
        </p:txBody>
      </p:sp>
      <p:sp>
        <p:nvSpPr>
          <p:cNvPr id="3" name="Content Placeholder 2">
            <a:extLst>
              <a:ext uri="{FF2B5EF4-FFF2-40B4-BE49-F238E27FC236}">
                <a16:creationId xmlns:a16="http://schemas.microsoft.com/office/drawing/2014/main" id="{221CB13C-B4E3-4B9B-8AFC-C9E5980BE3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G"/>
          </a:p>
        </p:txBody>
      </p:sp>
      <p:sp>
        <p:nvSpPr>
          <p:cNvPr id="4" name="Text Placeholder 3">
            <a:extLst>
              <a:ext uri="{FF2B5EF4-FFF2-40B4-BE49-F238E27FC236}">
                <a16:creationId xmlns:a16="http://schemas.microsoft.com/office/drawing/2014/main" id="{1BA73A2C-0F56-4F55-90BD-0B899D27D5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CE2D4BA-9992-4303-A287-89F8108D6941}"/>
              </a:ext>
            </a:extLst>
          </p:cNvPr>
          <p:cNvSpPr>
            <a:spLocks noGrp="1"/>
          </p:cNvSpPr>
          <p:nvPr>
            <p:ph type="dt" sz="half" idx="10"/>
          </p:nvPr>
        </p:nvSpPr>
        <p:spPr/>
        <p:txBody>
          <a:bodyPr/>
          <a:lstStyle/>
          <a:p>
            <a:fld id="{D7964993-6721-4FD0-A6E6-1D6E15719B89}" type="datetimeFigureOut">
              <a:rPr lang="en-VG" smtClean="0"/>
              <a:t>14/12/2024</a:t>
            </a:fld>
            <a:endParaRPr lang="en-VG"/>
          </a:p>
        </p:txBody>
      </p:sp>
      <p:sp>
        <p:nvSpPr>
          <p:cNvPr id="6" name="Footer Placeholder 5">
            <a:extLst>
              <a:ext uri="{FF2B5EF4-FFF2-40B4-BE49-F238E27FC236}">
                <a16:creationId xmlns:a16="http://schemas.microsoft.com/office/drawing/2014/main" id="{AF16C202-21AC-4022-AC3B-FD4D6555833D}"/>
              </a:ext>
            </a:extLst>
          </p:cNvPr>
          <p:cNvSpPr>
            <a:spLocks noGrp="1"/>
          </p:cNvSpPr>
          <p:nvPr>
            <p:ph type="ftr" sz="quarter" idx="11"/>
          </p:nvPr>
        </p:nvSpPr>
        <p:spPr/>
        <p:txBody>
          <a:bodyPr/>
          <a:lstStyle/>
          <a:p>
            <a:endParaRPr lang="en-VG"/>
          </a:p>
        </p:txBody>
      </p:sp>
      <p:sp>
        <p:nvSpPr>
          <p:cNvPr id="7" name="Slide Number Placeholder 6">
            <a:extLst>
              <a:ext uri="{FF2B5EF4-FFF2-40B4-BE49-F238E27FC236}">
                <a16:creationId xmlns:a16="http://schemas.microsoft.com/office/drawing/2014/main" id="{88FD2FB8-E41D-47FD-A2DD-82B00407ED05}"/>
              </a:ext>
            </a:extLst>
          </p:cNvPr>
          <p:cNvSpPr>
            <a:spLocks noGrp="1"/>
          </p:cNvSpPr>
          <p:nvPr>
            <p:ph type="sldNum" sz="quarter" idx="12"/>
          </p:nvPr>
        </p:nvSpPr>
        <p:spPr/>
        <p:txBody>
          <a:bodyPr/>
          <a:lstStyle/>
          <a:p>
            <a:fld id="{4DB8A365-4110-457C-ABC0-180ACDD07991}" type="slidenum">
              <a:rPr lang="en-VG" smtClean="0"/>
              <a:t>‹#›</a:t>
            </a:fld>
            <a:endParaRPr lang="en-VG"/>
          </a:p>
        </p:txBody>
      </p:sp>
    </p:spTree>
    <p:extLst>
      <p:ext uri="{BB962C8B-B14F-4D97-AF65-F5344CB8AC3E}">
        <p14:creationId xmlns:p14="http://schemas.microsoft.com/office/powerpoint/2010/main" val="36933862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CE5DD-63F5-4036-90FA-A5C86AA121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VG"/>
          </a:p>
        </p:txBody>
      </p:sp>
      <p:sp>
        <p:nvSpPr>
          <p:cNvPr id="3" name="Picture Placeholder 2">
            <a:extLst>
              <a:ext uri="{FF2B5EF4-FFF2-40B4-BE49-F238E27FC236}">
                <a16:creationId xmlns:a16="http://schemas.microsoft.com/office/drawing/2014/main" id="{9916F832-0C28-4B0D-92E6-180521A787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VG"/>
          </a:p>
        </p:txBody>
      </p:sp>
      <p:sp>
        <p:nvSpPr>
          <p:cNvPr id="4" name="Text Placeholder 3">
            <a:extLst>
              <a:ext uri="{FF2B5EF4-FFF2-40B4-BE49-F238E27FC236}">
                <a16:creationId xmlns:a16="http://schemas.microsoft.com/office/drawing/2014/main" id="{2099D9DF-E295-4D83-BFA5-3FB4699E82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7B353EB-6D87-4F94-824C-6DAEC4EF344B}"/>
              </a:ext>
            </a:extLst>
          </p:cNvPr>
          <p:cNvSpPr>
            <a:spLocks noGrp="1"/>
          </p:cNvSpPr>
          <p:nvPr>
            <p:ph type="dt" sz="half" idx="10"/>
          </p:nvPr>
        </p:nvSpPr>
        <p:spPr/>
        <p:txBody>
          <a:bodyPr/>
          <a:lstStyle/>
          <a:p>
            <a:fld id="{D7964993-6721-4FD0-A6E6-1D6E15719B89}" type="datetimeFigureOut">
              <a:rPr lang="en-VG" smtClean="0"/>
              <a:t>14/12/2024</a:t>
            </a:fld>
            <a:endParaRPr lang="en-VG"/>
          </a:p>
        </p:txBody>
      </p:sp>
      <p:sp>
        <p:nvSpPr>
          <p:cNvPr id="6" name="Footer Placeholder 5">
            <a:extLst>
              <a:ext uri="{FF2B5EF4-FFF2-40B4-BE49-F238E27FC236}">
                <a16:creationId xmlns:a16="http://schemas.microsoft.com/office/drawing/2014/main" id="{B4F1AA1C-4D2F-4417-8E2E-E9BED1A51EE2}"/>
              </a:ext>
            </a:extLst>
          </p:cNvPr>
          <p:cNvSpPr>
            <a:spLocks noGrp="1"/>
          </p:cNvSpPr>
          <p:nvPr>
            <p:ph type="ftr" sz="quarter" idx="11"/>
          </p:nvPr>
        </p:nvSpPr>
        <p:spPr/>
        <p:txBody>
          <a:bodyPr/>
          <a:lstStyle/>
          <a:p>
            <a:endParaRPr lang="en-VG"/>
          </a:p>
        </p:txBody>
      </p:sp>
      <p:sp>
        <p:nvSpPr>
          <p:cNvPr id="7" name="Slide Number Placeholder 6">
            <a:extLst>
              <a:ext uri="{FF2B5EF4-FFF2-40B4-BE49-F238E27FC236}">
                <a16:creationId xmlns:a16="http://schemas.microsoft.com/office/drawing/2014/main" id="{5D73F59E-D973-4737-B13B-7B665D03D3D4}"/>
              </a:ext>
            </a:extLst>
          </p:cNvPr>
          <p:cNvSpPr>
            <a:spLocks noGrp="1"/>
          </p:cNvSpPr>
          <p:nvPr>
            <p:ph type="sldNum" sz="quarter" idx="12"/>
          </p:nvPr>
        </p:nvSpPr>
        <p:spPr/>
        <p:txBody>
          <a:bodyPr/>
          <a:lstStyle/>
          <a:p>
            <a:fld id="{4DB8A365-4110-457C-ABC0-180ACDD07991}" type="slidenum">
              <a:rPr lang="en-VG" smtClean="0"/>
              <a:t>‹#›</a:t>
            </a:fld>
            <a:endParaRPr lang="en-VG"/>
          </a:p>
        </p:txBody>
      </p:sp>
    </p:spTree>
    <p:extLst>
      <p:ext uri="{BB962C8B-B14F-4D97-AF65-F5344CB8AC3E}">
        <p14:creationId xmlns:p14="http://schemas.microsoft.com/office/powerpoint/2010/main" val="21442391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143A8-977B-4888-BB20-B3D6DB142E42}"/>
              </a:ext>
            </a:extLst>
          </p:cNvPr>
          <p:cNvSpPr>
            <a:spLocks noGrp="1"/>
          </p:cNvSpPr>
          <p:nvPr>
            <p:ph type="title"/>
          </p:nvPr>
        </p:nvSpPr>
        <p:spPr/>
        <p:txBody>
          <a:bodyPr/>
          <a:lstStyle/>
          <a:p>
            <a:r>
              <a:rPr lang="en-US"/>
              <a:t>Click to edit Master title style</a:t>
            </a:r>
            <a:endParaRPr lang="en-VG"/>
          </a:p>
        </p:txBody>
      </p:sp>
      <p:sp>
        <p:nvSpPr>
          <p:cNvPr id="3" name="Vertical Text Placeholder 2">
            <a:extLst>
              <a:ext uri="{FF2B5EF4-FFF2-40B4-BE49-F238E27FC236}">
                <a16:creationId xmlns:a16="http://schemas.microsoft.com/office/drawing/2014/main" id="{19894414-6E39-444A-A792-3C767A283A7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G"/>
          </a:p>
        </p:txBody>
      </p:sp>
      <p:sp>
        <p:nvSpPr>
          <p:cNvPr id="4" name="Date Placeholder 3">
            <a:extLst>
              <a:ext uri="{FF2B5EF4-FFF2-40B4-BE49-F238E27FC236}">
                <a16:creationId xmlns:a16="http://schemas.microsoft.com/office/drawing/2014/main" id="{98B231E6-8A53-4743-A1D0-088873FCB615}"/>
              </a:ext>
            </a:extLst>
          </p:cNvPr>
          <p:cNvSpPr>
            <a:spLocks noGrp="1"/>
          </p:cNvSpPr>
          <p:nvPr>
            <p:ph type="dt" sz="half" idx="10"/>
          </p:nvPr>
        </p:nvSpPr>
        <p:spPr/>
        <p:txBody>
          <a:bodyPr/>
          <a:lstStyle/>
          <a:p>
            <a:fld id="{D7964993-6721-4FD0-A6E6-1D6E15719B89}" type="datetimeFigureOut">
              <a:rPr lang="en-VG" smtClean="0"/>
              <a:t>14/12/2024</a:t>
            </a:fld>
            <a:endParaRPr lang="en-VG"/>
          </a:p>
        </p:txBody>
      </p:sp>
      <p:sp>
        <p:nvSpPr>
          <p:cNvPr id="5" name="Footer Placeholder 4">
            <a:extLst>
              <a:ext uri="{FF2B5EF4-FFF2-40B4-BE49-F238E27FC236}">
                <a16:creationId xmlns:a16="http://schemas.microsoft.com/office/drawing/2014/main" id="{A97B5E3D-01DF-4311-BF7E-5D3AA93FD9F8}"/>
              </a:ext>
            </a:extLst>
          </p:cNvPr>
          <p:cNvSpPr>
            <a:spLocks noGrp="1"/>
          </p:cNvSpPr>
          <p:nvPr>
            <p:ph type="ftr" sz="quarter" idx="11"/>
          </p:nvPr>
        </p:nvSpPr>
        <p:spPr/>
        <p:txBody>
          <a:bodyPr/>
          <a:lstStyle/>
          <a:p>
            <a:endParaRPr lang="en-VG"/>
          </a:p>
        </p:txBody>
      </p:sp>
      <p:sp>
        <p:nvSpPr>
          <p:cNvPr id="6" name="Slide Number Placeholder 5">
            <a:extLst>
              <a:ext uri="{FF2B5EF4-FFF2-40B4-BE49-F238E27FC236}">
                <a16:creationId xmlns:a16="http://schemas.microsoft.com/office/drawing/2014/main" id="{53B8FEBB-85D0-4356-9ABE-07E5F91F166A}"/>
              </a:ext>
            </a:extLst>
          </p:cNvPr>
          <p:cNvSpPr>
            <a:spLocks noGrp="1"/>
          </p:cNvSpPr>
          <p:nvPr>
            <p:ph type="sldNum" sz="quarter" idx="12"/>
          </p:nvPr>
        </p:nvSpPr>
        <p:spPr/>
        <p:txBody>
          <a:bodyPr/>
          <a:lstStyle/>
          <a:p>
            <a:fld id="{4DB8A365-4110-457C-ABC0-180ACDD07991}" type="slidenum">
              <a:rPr lang="en-VG" smtClean="0"/>
              <a:t>‹#›</a:t>
            </a:fld>
            <a:endParaRPr lang="en-VG"/>
          </a:p>
        </p:txBody>
      </p:sp>
    </p:spTree>
    <p:extLst>
      <p:ext uri="{BB962C8B-B14F-4D97-AF65-F5344CB8AC3E}">
        <p14:creationId xmlns:p14="http://schemas.microsoft.com/office/powerpoint/2010/main" val="23301495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3232B7C-9627-4EA3-8179-BED06A2DDF9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VG"/>
          </a:p>
        </p:txBody>
      </p:sp>
      <p:sp>
        <p:nvSpPr>
          <p:cNvPr id="3" name="Vertical Text Placeholder 2">
            <a:extLst>
              <a:ext uri="{FF2B5EF4-FFF2-40B4-BE49-F238E27FC236}">
                <a16:creationId xmlns:a16="http://schemas.microsoft.com/office/drawing/2014/main" id="{350107F6-8B06-4AE2-AC64-AB073EAC8F8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G"/>
          </a:p>
        </p:txBody>
      </p:sp>
      <p:sp>
        <p:nvSpPr>
          <p:cNvPr id="4" name="Date Placeholder 3">
            <a:extLst>
              <a:ext uri="{FF2B5EF4-FFF2-40B4-BE49-F238E27FC236}">
                <a16:creationId xmlns:a16="http://schemas.microsoft.com/office/drawing/2014/main" id="{6A4A933F-8AEA-4079-B0D4-28A0189B145E}"/>
              </a:ext>
            </a:extLst>
          </p:cNvPr>
          <p:cNvSpPr>
            <a:spLocks noGrp="1"/>
          </p:cNvSpPr>
          <p:nvPr>
            <p:ph type="dt" sz="half" idx="10"/>
          </p:nvPr>
        </p:nvSpPr>
        <p:spPr/>
        <p:txBody>
          <a:bodyPr/>
          <a:lstStyle/>
          <a:p>
            <a:fld id="{D7964993-6721-4FD0-A6E6-1D6E15719B89}" type="datetimeFigureOut">
              <a:rPr lang="en-VG" smtClean="0"/>
              <a:t>14/12/2024</a:t>
            </a:fld>
            <a:endParaRPr lang="en-VG"/>
          </a:p>
        </p:txBody>
      </p:sp>
      <p:sp>
        <p:nvSpPr>
          <p:cNvPr id="5" name="Footer Placeholder 4">
            <a:extLst>
              <a:ext uri="{FF2B5EF4-FFF2-40B4-BE49-F238E27FC236}">
                <a16:creationId xmlns:a16="http://schemas.microsoft.com/office/drawing/2014/main" id="{D32D5EB8-299F-4C81-B277-6BF9A470CA51}"/>
              </a:ext>
            </a:extLst>
          </p:cNvPr>
          <p:cNvSpPr>
            <a:spLocks noGrp="1"/>
          </p:cNvSpPr>
          <p:nvPr>
            <p:ph type="ftr" sz="quarter" idx="11"/>
          </p:nvPr>
        </p:nvSpPr>
        <p:spPr/>
        <p:txBody>
          <a:bodyPr/>
          <a:lstStyle/>
          <a:p>
            <a:endParaRPr lang="en-VG"/>
          </a:p>
        </p:txBody>
      </p:sp>
      <p:sp>
        <p:nvSpPr>
          <p:cNvPr id="6" name="Slide Number Placeholder 5">
            <a:extLst>
              <a:ext uri="{FF2B5EF4-FFF2-40B4-BE49-F238E27FC236}">
                <a16:creationId xmlns:a16="http://schemas.microsoft.com/office/drawing/2014/main" id="{2DEB48B1-7644-49C5-8598-A5D3DB2F808B}"/>
              </a:ext>
            </a:extLst>
          </p:cNvPr>
          <p:cNvSpPr>
            <a:spLocks noGrp="1"/>
          </p:cNvSpPr>
          <p:nvPr>
            <p:ph type="sldNum" sz="quarter" idx="12"/>
          </p:nvPr>
        </p:nvSpPr>
        <p:spPr/>
        <p:txBody>
          <a:bodyPr/>
          <a:lstStyle/>
          <a:p>
            <a:fld id="{4DB8A365-4110-457C-ABC0-180ACDD07991}" type="slidenum">
              <a:rPr lang="en-VG" smtClean="0"/>
              <a:t>‹#›</a:t>
            </a:fld>
            <a:endParaRPr lang="en-VG"/>
          </a:p>
        </p:txBody>
      </p:sp>
    </p:spTree>
    <p:extLst>
      <p:ext uri="{BB962C8B-B14F-4D97-AF65-F5344CB8AC3E}">
        <p14:creationId xmlns:p14="http://schemas.microsoft.com/office/powerpoint/2010/main" val="34307861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D30677A-A949-4AEA-82A3-00EA4ED0A52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VG"/>
          </a:p>
        </p:txBody>
      </p:sp>
      <p:sp>
        <p:nvSpPr>
          <p:cNvPr id="3" name="Text Placeholder 2">
            <a:extLst>
              <a:ext uri="{FF2B5EF4-FFF2-40B4-BE49-F238E27FC236}">
                <a16:creationId xmlns:a16="http://schemas.microsoft.com/office/drawing/2014/main" id="{1991C88F-021E-4E1B-A475-C933E267446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G"/>
          </a:p>
        </p:txBody>
      </p:sp>
      <p:sp>
        <p:nvSpPr>
          <p:cNvPr id="4" name="Date Placeholder 3">
            <a:extLst>
              <a:ext uri="{FF2B5EF4-FFF2-40B4-BE49-F238E27FC236}">
                <a16:creationId xmlns:a16="http://schemas.microsoft.com/office/drawing/2014/main" id="{F9A8662D-E59E-4429-8076-EEE37802B5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7964993-6721-4FD0-A6E6-1D6E15719B89}" type="datetimeFigureOut">
              <a:rPr lang="en-VG" smtClean="0"/>
              <a:t>14/12/2024</a:t>
            </a:fld>
            <a:endParaRPr lang="en-VG"/>
          </a:p>
        </p:txBody>
      </p:sp>
      <p:sp>
        <p:nvSpPr>
          <p:cNvPr id="5" name="Footer Placeholder 4">
            <a:extLst>
              <a:ext uri="{FF2B5EF4-FFF2-40B4-BE49-F238E27FC236}">
                <a16:creationId xmlns:a16="http://schemas.microsoft.com/office/drawing/2014/main" id="{B0518B9E-A119-4BA6-B5A5-1580356F706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VG"/>
          </a:p>
        </p:txBody>
      </p:sp>
      <p:sp>
        <p:nvSpPr>
          <p:cNvPr id="6" name="Slide Number Placeholder 5">
            <a:extLst>
              <a:ext uri="{FF2B5EF4-FFF2-40B4-BE49-F238E27FC236}">
                <a16:creationId xmlns:a16="http://schemas.microsoft.com/office/drawing/2014/main" id="{87060D83-93EE-4EA9-B079-A7EF59DF5D0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B8A365-4110-457C-ABC0-180ACDD07991}" type="slidenum">
              <a:rPr lang="en-VG" smtClean="0"/>
              <a:t>‹#›</a:t>
            </a:fld>
            <a:endParaRPr lang="en-VG"/>
          </a:p>
        </p:txBody>
      </p:sp>
    </p:spTree>
    <p:extLst>
      <p:ext uri="{BB962C8B-B14F-4D97-AF65-F5344CB8AC3E}">
        <p14:creationId xmlns:p14="http://schemas.microsoft.com/office/powerpoint/2010/main" val="2293204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V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026" name="Picture 2" descr="Web Application Advanced Hacking - Penetration Testing Tools, ML and Linux  Tutorials">
            <a:extLst>
              <a:ext uri="{FF2B5EF4-FFF2-40B4-BE49-F238E27FC236}">
                <a16:creationId xmlns:a16="http://schemas.microsoft.com/office/drawing/2014/main" id="{CC7FF373-D7E7-4D42-9FF1-4A9C25B30728}"/>
              </a:ext>
            </a:extLst>
          </p:cNvPr>
          <p:cNvPicPr>
            <a:picLocks noChangeAspect="1" noChangeArrowheads="1"/>
          </p:cNvPicPr>
          <p:nvPr/>
        </p:nvPicPr>
        <p:blipFill>
          <a:blip r:embed="rId3">
            <a:alphaModFix amt="44000"/>
            <a:extLst>
              <a:ext uri="{28A0092B-C50C-407E-A947-70E740481C1C}">
                <a14:useLocalDpi xmlns:a14="http://schemas.microsoft.com/office/drawing/2010/main" val="0"/>
              </a:ext>
            </a:extLst>
          </a:blip>
          <a:srcRect/>
          <a:stretch>
            <a:fillRect/>
          </a:stretch>
        </p:blipFill>
        <p:spPr bwMode="auto">
          <a:xfrm>
            <a:off x="0" y="4763"/>
            <a:ext cx="12192000" cy="6853237"/>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6FCB603-7AB6-4B5D-8D35-7D87DE730116}"/>
              </a:ext>
            </a:extLst>
          </p:cNvPr>
          <p:cNvSpPr>
            <a:spLocks noGrp="1"/>
          </p:cNvSpPr>
          <p:nvPr>
            <p:ph type="ctrTitle"/>
          </p:nvPr>
        </p:nvSpPr>
        <p:spPr/>
        <p:txBody>
          <a:bodyPr/>
          <a:lstStyle/>
          <a:p>
            <a:pPr algn="l"/>
            <a:r>
              <a:rPr lang="en-US" dirty="0">
                <a:solidFill>
                  <a:schemeClr val="bg1"/>
                </a:solidFill>
              </a:rPr>
              <a:t>Lecture 01</a:t>
            </a:r>
            <a:br>
              <a:rPr lang="en-US" dirty="0">
                <a:solidFill>
                  <a:schemeClr val="bg1"/>
                </a:solidFill>
              </a:rPr>
            </a:br>
            <a:r>
              <a:rPr lang="en-US" dirty="0">
                <a:solidFill>
                  <a:schemeClr val="bg1"/>
                </a:solidFill>
              </a:rPr>
              <a:t>Web Application (In)security</a:t>
            </a:r>
            <a:endParaRPr lang="en-VG" dirty="0">
              <a:solidFill>
                <a:schemeClr val="bg1"/>
              </a:solidFill>
            </a:endParaRPr>
          </a:p>
        </p:txBody>
      </p:sp>
      <p:sp>
        <p:nvSpPr>
          <p:cNvPr id="3" name="Subtitle 2">
            <a:extLst>
              <a:ext uri="{FF2B5EF4-FFF2-40B4-BE49-F238E27FC236}">
                <a16:creationId xmlns:a16="http://schemas.microsoft.com/office/drawing/2014/main" id="{05C2434C-4FA0-478B-B278-89F3B7B4528B}"/>
              </a:ext>
            </a:extLst>
          </p:cNvPr>
          <p:cNvSpPr>
            <a:spLocks noGrp="1"/>
          </p:cNvSpPr>
          <p:nvPr>
            <p:ph type="subTitle" idx="1"/>
          </p:nvPr>
        </p:nvSpPr>
        <p:spPr>
          <a:xfrm>
            <a:off x="1524000" y="3996485"/>
            <a:ext cx="9144000" cy="1655762"/>
          </a:xfrm>
        </p:spPr>
        <p:txBody>
          <a:bodyPr/>
          <a:lstStyle/>
          <a:p>
            <a:pPr algn="l"/>
            <a:r>
              <a:rPr lang="en-US" dirty="0">
                <a:solidFill>
                  <a:schemeClr val="bg1"/>
                </a:solidFill>
              </a:rPr>
              <a:t>CNC 3304 Web Security</a:t>
            </a:r>
            <a:endParaRPr lang="en-VG" dirty="0">
              <a:solidFill>
                <a:schemeClr val="bg1"/>
              </a:solidFill>
            </a:endParaRPr>
          </a:p>
        </p:txBody>
      </p:sp>
    </p:spTree>
    <p:extLst>
      <p:ext uri="{BB962C8B-B14F-4D97-AF65-F5344CB8AC3E}">
        <p14:creationId xmlns:p14="http://schemas.microsoft.com/office/powerpoint/2010/main" val="32812821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31834-C935-4D26-A858-8339F5ED231A}"/>
              </a:ext>
            </a:extLst>
          </p:cNvPr>
          <p:cNvSpPr>
            <a:spLocks noGrp="1"/>
          </p:cNvSpPr>
          <p:nvPr>
            <p:ph type="title"/>
          </p:nvPr>
        </p:nvSpPr>
        <p:spPr>
          <a:xfrm>
            <a:off x="506506" y="18255"/>
            <a:ext cx="10515600" cy="940969"/>
          </a:xfrm>
        </p:spPr>
        <p:txBody>
          <a:bodyPr/>
          <a:lstStyle/>
          <a:p>
            <a:r>
              <a:rPr lang="en-GB" dirty="0"/>
              <a:t>The Evolution of Web Applications</a:t>
            </a:r>
            <a:endParaRPr lang="en-VG" dirty="0"/>
          </a:p>
        </p:txBody>
      </p:sp>
      <p:sp>
        <p:nvSpPr>
          <p:cNvPr id="3" name="Content Placeholder 2">
            <a:extLst>
              <a:ext uri="{FF2B5EF4-FFF2-40B4-BE49-F238E27FC236}">
                <a16:creationId xmlns:a16="http://schemas.microsoft.com/office/drawing/2014/main" id="{813DB196-FC63-45BE-959D-E86DB3C36547}"/>
              </a:ext>
            </a:extLst>
          </p:cNvPr>
          <p:cNvSpPr>
            <a:spLocks noGrp="1"/>
          </p:cNvSpPr>
          <p:nvPr>
            <p:ph idx="1"/>
          </p:nvPr>
        </p:nvSpPr>
        <p:spPr>
          <a:xfrm>
            <a:off x="506506" y="1253331"/>
            <a:ext cx="10515600" cy="5586414"/>
          </a:xfrm>
        </p:spPr>
        <p:txBody>
          <a:bodyPr/>
          <a:lstStyle/>
          <a:p>
            <a:pPr marL="0" indent="0">
              <a:buNone/>
            </a:pPr>
            <a:endParaRPr lang="en-GB" dirty="0"/>
          </a:p>
          <a:p>
            <a:pPr marL="0" indent="0">
              <a:buNone/>
            </a:pPr>
            <a:endParaRPr lang="en-VG" dirty="0"/>
          </a:p>
        </p:txBody>
      </p:sp>
      <p:sp>
        <p:nvSpPr>
          <p:cNvPr id="8" name="TextBox 7">
            <a:extLst>
              <a:ext uri="{FF2B5EF4-FFF2-40B4-BE49-F238E27FC236}">
                <a16:creationId xmlns:a16="http://schemas.microsoft.com/office/drawing/2014/main" id="{A16D005E-63AE-4BA0-9DA8-6F4BF1882058}"/>
              </a:ext>
            </a:extLst>
          </p:cNvPr>
          <p:cNvSpPr txBox="1"/>
          <p:nvPr/>
        </p:nvSpPr>
        <p:spPr>
          <a:xfrm>
            <a:off x="506506" y="977153"/>
            <a:ext cx="10806953" cy="5262979"/>
          </a:xfrm>
          <a:prstGeom prst="rect">
            <a:avLst/>
          </a:prstGeom>
          <a:noFill/>
        </p:spPr>
        <p:txBody>
          <a:bodyPr wrap="square">
            <a:spAutoFit/>
          </a:bodyPr>
          <a:lstStyle/>
          <a:p>
            <a:r>
              <a:rPr lang="en-GB" sz="2400" b="1" dirty="0"/>
              <a:t>Early Days of the Internet</a:t>
            </a:r>
          </a:p>
          <a:p>
            <a:endParaRPr lang="en-GB" sz="2400" b="1" dirty="0"/>
          </a:p>
          <a:p>
            <a:pPr marL="742950" lvl="1" indent="-285750">
              <a:buFont typeface="Arial" panose="020B0604020202020204" pitchFamily="34" charset="0"/>
              <a:buChar char="•"/>
            </a:pPr>
            <a:r>
              <a:rPr lang="en-GB" sz="2400" dirty="0"/>
              <a:t>The World Wide Web consisted of static websites, serving as information repositories.</a:t>
            </a:r>
          </a:p>
          <a:p>
            <a:pPr marL="742950" lvl="1" indent="-285750">
              <a:buFont typeface="Arial" panose="020B0604020202020204" pitchFamily="34" charset="0"/>
              <a:buChar char="•"/>
            </a:pPr>
            <a:r>
              <a:rPr lang="en-GB" sz="2400" dirty="0"/>
              <a:t>Web browsers were developed to retrieve and display these documents.</a:t>
            </a:r>
          </a:p>
          <a:p>
            <a:pPr marL="742950" lvl="1" indent="-285750">
              <a:buFont typeface="Arial" panose="020B0604020202020204" pitchFamily="34" charset="0"/>
              <a:buChar char="•"/>
            </a:pPr>
            <a:r>
              <a:rPr lang="en-GB" sz="2400" dirty="0"/>
              <a:t>Information flow was </a:t>
            </a:r>
            <a:r>
              <a:rPr lang="en-GB" sz="2400" b="1" dirty="0"/>
              <a:t>one-way</a:t>
            </a:r>
            <a:r>
              <a:rPr lang="en-GB" sz="2400" dirty="0"/>
              <a:t>: server → browser.</a:t>
            </a:r>
          </a:p>
          <a:p>
            <a:pPr marL="742950" lvl="1" indent="-285750">
              <a:buFont typeface="Arial" panose="020B0604020202020204" pitchFamily="34" charset="0"/>
              <a:buChar char="•"/>
            </a:pPr>
            <a:r>
              <a:rPr lang="en-GB" sz="2400" dirty="0"/>
              <a:t>Most sites did not authenticate users; all users were treated equally.</a:t>
            </a:r>
          </a:p>
          <a:p>
            <a:pPr marL="742950" lvl="1" indent="-285750">
              <a:buFont typeface="Arial" panose="020B0604020202020204" pitchFamily="34" charset="0"/>
              <a:buChar char="•"/>
            </a:pPr>
            <a:r>
              <a:rPr lang="en-GB" sz="2400" dirty="0"/>
              <a:t>Content was uniformly displayed to all users without personalization.</a:t>
            </a:r>
          </a:p>
          <a:p>
            <a:pPr marL="742950" lvl="1" indent="-285750">
              <a:buFont typeface="Arial" panose="020B0604020202020204" pitchFamily="34" charset="0"/>
              <a:buChar char="•"/>
            </a:pPr>
            <a:r>
              <a:rPr lang="en-GB" sz="2400" dirty="0"/>
              <a:t>Security threats were largely due to vulnerabilities in web server software.</a:t>
            </a:r>
          </a:p>
          <a:p>
            <a:pPr lvl="1"/>
            <a:endParaRPr lang="en-GB" sz="2400" b="1" dirty="0"/>
          </a:p>
          <a:p>
            <a:pPr lvl="1"/>
            <a:r>
              <a:rPr lang="en-GB" sz="2400" b="1" dirty="0"/>
              <a:t>Common Attacker Goals</a:t>
            </a:r>
            <a:r>
              <a:rPr lang="en-GB" sz="2400" dirty="0"/>
              <a:t>:</a:t>
            </a:r>
          </a:p>
          <a:p>
            <a:pPr marL="1143000" lvl="2" indent="-228600">
              <a:buFont typeface="Arial" panose="020B0604020202020204" pitchFamily="34" charset="0"/>
              <a:buChar char="•"/>
            </a:pPr>
            <a:r>
              <a:rPr lang="en-GB" sz="2400" dirty="0"/>
              <a:t>Modify files on servers to </a:t>
            </a:r>
            <a:r>
              <a:rPr lang="en-GB" sz="2400" b="1" dirty="0"/>
              <a:t>deface content</a:t>
            </a:r>
            <a:r>
              <a:rPr lang="en-GB" sz="2400" dirty="0"/>
              <a:t>.</a:t>
            </a:r>
          </a:p>
          <a:p>
            <a:pPr marL="1143000" lvl="2" indent="-228600">
              <a:buFont typeface="Arial" panose="020B0604020202020204" pitchFamily="34" charset="0"/>
              <a:buChar char="•"/>
            </a:pPr>
            <a:r>
              <a:rPr lang="en-GB" sz="2400" dirty="0"/>
              <a:t>Use server resources (e.g., storage, bandwidth) to distribute “warez.”</a:t>
            </a:r>
          </a:p>
          <a:p>
            <a:pPr marL="742950" lvl="1" indent="-285750">
              <a:buFont typeface="Arial" panose="020B0604020202020204" pitchFamily="34" charset="0"/>
              <a:buChar char="•"/>
            </a:pPr>
            <a:r>
              <a:rPr lang="en-GB" sz="2400" dirty="0"/>
              <a:t>Sensitive information was not at risk because all data was already public.</a:t>
            </a:r>
          </a:p>
        </p:txBody>
      </p:sp>
    </p:spTree>
    <p:extLst>
      <p:ext uri="{BB962C8B-B14F-4D97-AF65-F5344CB8AC3E}">
        <p14:creationId xmlns:p14="http://schemas.microsoft.com/office/powerpoint/2010/main" val="1246937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FB41C49-944C-4F75-8F03-CE5129ADA10F}"/>
              </a:ext>
            </a:extLst>
          </p:cNvPr>
          <p:cNvPicPr>
            <a:picLocks noChangeAspect="1"/>
          </p:cNvPicPr>
          <p:nvPr/>
        </p:nvPicPr>
        <p:blipFill>
          <a:blip r:embed="rId2"/>
          <a:stretch>
            <a:fillRect/>
          </a:stretch>
        </p:blipFill>
        <p:spPr>
          <a:xfrm>
            <a:off x="1744077" y="0"/>
            <a:ext cx="8703846" cy="6312802"/>
          </a:xfrm>
          <a:prstGeom prst="rect">
            <a:avLst/>
          </a:prstGeom>
        </p:spPr>
      </p:pic>
      <p:sp>
        <p:nvSpPr>
          <p:cNvPr id="7" name="TextBox 6">
            <a:extLst>
              <a:ext uri="{FF2B5EF4-FFF2-40B4-BE49-F238E27FC236}">
                <a16:creationId xmlns:a16="http://schemas.microsoft.com/office/drawing/2014/main" id="{C664FA97-FD62-4B1E-B569-226BA833BE8D}"/>
              </a:ext>
            </a:extLst>
          </p:cNvPr>
          <p:cNvSpPr txBox="1"/>
          <p:nvPr/>
        </p:nvSpPr>
        <p:spPr>
          <a:xfrm>
            <a:off x="3048000" y="6312802"/>
            <a:ext cx="6096000" cy="369332"/>
          </a:xfrm>
          <a:prstGeom prst="rect">
            <a:avLst/>
          </a:prstGeom>
          <a:noFill/>
        </p:spPr>
        <p:txBody>
          <a:bodyPr wrap="square">
            <a:spAutoFit/>
          </a:bodyPr>
          <a:lstStyle/>
          <a:p>
            <a:r>
              <a:rPr lang="en-GB" dirty="0"/>
              <a:t>A traditional website containing static information</a:t>
            </a:r>
            <a:endParaRPr lang="en-VG" dirty="0"/>
          </a:p>
        </p:txBody>
      </p:sp>
    </p:spTree>
    <p:extLst>
      <p:ext uri="{BB962C8B-B14F-4D97-AF65-F5344CB8AC3E}">
        <p14:creationId xmlns:p14="http://schemas.microsoft.com/office/powerpoint/2010/main" val="35610957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44BF79-F3DA-4DA9-9D5E-3380D3FED4D1}"/>
              </a:ext>
            </a:extLst>
          </p:cNvPr>
          <p:cNvSpPr>
            <a:spLocks noGrp="1"/>
          </p:cNvSpPr>
          <p:nvPr>
            <p:ph idx="1"/>
          </p:nvPr>
        </p:nvSpPr>
        <p:spPr>
          <a:xfrm>
            <a:off x="524436" y="480920"/>
            <a:ext cx="11559988" cy="5686797"/>
          </a:xfrm>
        </p:spPr>
        <p:txBody>
          <a:bodyPr>
            <a:normAutofit/>
          </a:bodyPr>
          <a:lstStyle/>
          <a:p>
            <a:pPr marL="0" indent="0">
              <a:buNone/>
            </a:pPr>
            <a:r>
              <a:rPr lang="en-US" sz="2400" b="1" dirty="0"/>
              <a:t>Modern Web Applications</a:t>
            </a:r>
          </a:p>
          <a:p>
            <a:r>
              <a:rPr lang="en-GB" sz="2400" dirty="0"/>
              <a:t>The web is now dominated by </a:t>
            </a:r>
            <a:r>
              <a:rPr lang="en-GB" sz="2400" b="1" dirty="0"/>
              <a:t>applications</a:t>
            </a:r>
            <a:r>
              <a:rPr lang="en-GB" sz="2400" dirty="0"/>
              <a:t>, not static websites.</a:t>
            </a:r>
          </a:p>
          <a:p>
            <a:r>
              <a:rPr lang="en-GB" sz="2400" dirty="0"/>
              <a:t>Applications enable a </a:t>
            </a:r>
            <a:r>
              <a:rPr lang="en-GB" sz="2400" b="1" dirty="0"/>
              <a:t>two-way flow</a:t>
            </a:r>
            <a:r>
              <a:rPr lang="en-GB" sz="2400" dirty="0"/>
              <a:t> of information between servers and browsers.</a:t>
            </a:r>
          </a:p>
          <a:p>
            <a:r>
              <a:rPr lang="en-GB" sz="2400" dirty="0"/>
              <a:t>They support registration and login, financial transactions, search, and the authoring of content by users.</a:t>
            </a:r>
          </a:p>
          <a:p>
            <a:r>
              <a:rPr lang="en-GB" sz="2400" dirty="0"/>
              <a:t>The content is generated dynamically on the fly and is often tailored to each specific user.</a:t>
            </a:r>
          </a:p>
          <a:p>
            <a:r>
              <a:rPr lang="en-GB" sz="2400" dirty="0"/>
              <a:t>Much of the information processed is private and highly sensitive.</a:t>
            </a:r>
          </a:p>
          <a:p>
            <a:r>
              <a:rPr lang="en-GB" sz="2400" dirty="0"/>
              <a:t>Security is a big issue.</a:t>
            </a:r>
          </a:p>
          <a:p>
            <a:pPr marL="0" indent="0">
              <a:buNone/>
            </a:pPr>
            <a:endParaRPr lang="en-GB" sz="2400" dirty="0"/>
          </a:p>
          <a:p>
            <a:pPr marL="0" indent="0">
              <a:buNone/>
            </a:pPr>
            <a:r>
              <a:rPr lang="en-GB" sz="2400" dirty="0" err="1"/>
              <a:t>Eg</a:t>
            </a:r>
            <a:r>
              <a:rPr lang="en-GB" sz="2400" dirty="0"/>
              <a:t>: Today, you can visit a web application and perform a fund transfer yourself. </a:t>
            </a:r>
          </a:p>
          <a:p>
            <a:pPr marL="0" indent="0">
              <a:buNone/>
            </a:pPr>
            <a:r>
              <a:rPr lang="en-GB" sz="2400" dirty="0"/>
              <a:t>An attacker who compromises a web application may be able to steal personal information, carry out financial fraud, and perform malicious actions against other users.</a:t>
            </a:r>
            <a:endParaRPr lang="en-VG" sz="2400" dirty="0"/>
          </a:p>
        </p:txBody>
      </p:sp>
    </p:spTree>
    <p:extLst>
      <p:ext uri="{BB962C8B-B14F-4D97-AF65-F5344CB8AC3E}">
        <p14:creationId xmlns:p14="http://schemas.microsoft.com/office/powerpoint/2010/main" val="18188563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4FE94-5CE1-4C7C-855C-344454F99A8D}"/>
              </a:ext>
            </a:extLst>
          </p:cNvPr>
          <p:cNvSpPr>
            <a:spLocks noGrp="1"/>
          </p:cNvSpPr>
          <p:nvPr>
            <p:ph type="title"/>
          </p:nvPr>
        </p:nvSpPr>
        <p:spPr>
          <a:xfrm>
            <a:off x="452717" y="167902"/>
            <a:ext cx="10515600" cy="728569"/>
          </a:xfrm>
        </p:spPr>
        <p:txBody>
          <a:bodyPr/>
          <a:lstStyle/>
          <a:p>
            <a:r>
              <a:rPr lang="en-US" dirty="0"/>
              <a:t>Common Web Application Functions</a:t>
            </a:r>
            <a:endParaRPr lang="en-VG" dirty="0"/>
          </a:p>
        </p:txBody>
      </p:sp>
      <p:sp>
        <p:nvSpPr>
          <p:cNvPr id="3" name="Content Placeholder 2">
            <a:extLst>
              <a:ext uri="{FF2B5EF4-FFF2-40B4-BE49-F238E27FC236}">
                <a16:creationId xmlns:a16="http://schemas.microsoft.com/office/drawing/2014/main" id="{FB346DCF-7C8E-4AB9-8E56-9FD9F23C2A30}"/>
              </a:ext>
            </a:extLst>
          </p:cNvPr>
          <p:cNvSpPr>
            <a:spLocks noGrp="1"/>
          </p:cNvSpPr>
          <p:nvPr>
            <p:ph idx="1"/>
          </p:nvPr>
        </p:nvSpPr>
        <p:spPr>
          <a:xfrm>
            <a:off x="838200" y="1253331"/>
            <a:ext cx="10515600" cy="4351338"/>
          </a:xfrm>
        </p:spPr>
        <p:txBody>
          <a:bodyPr>
            <a:normAutofit lnSpcReduction="10000"/>
          </a:bodyPr>
          <a:lstStyle/>
          <a:p>
            <a:r>
              <a:rPr lang="en-US" dirty="0"/>
              <a:t>Shopping (Amazon)</a:t>
            </a:r>
          </a:p>
          <a:p>
            <a:r>
              <a:rPr lang="en-US" dirty="0"/>
              <a:t>Social networking (Facebook)</a:t>
            </a:r>
          </a:p>
          <a:p>
            <a:r>
              <a:rPr lang="en-US" dirty="0"/>
              <a:t>Banking (Citibank)</a:t>
            </a:r>
          </a:p>
          <a:p>
            <a:r>
              <a:rPr lang="en-US" dirty="0"/>
              <a:t>Web search (Google)</a:t>
            </a:r>
          </a:p>
          <a:p>
            <a:r>
              <a:rPr lang="en-US" dirty="0"/>
              <a:t>Auctions (eBay)</a:t>
            </a:r>
          </a:p>
          <a:p>
            <a:r>
              <a:rPr lang="en-US" dirty="0"/>
              <a:t>Gambling (Betfair)</a:t>
            </a:r>
          </a:p>
          <a:p>
            <a:r>
              <a:rPr lang="en-US" dirty="0"/>
              <a:t>Web logs (Blogger)</a:t>
            </a:r>
          </a:p>
          <a:p>
            <a:r>
              <a:rPr lang="en-US" dirty="0"/>
              <a:t>Web mail (Gmail)</a:t>
            </a:r>
          </a:p>
          <a:p>
            <a:r>
              <a:rPr lang="en-US" dirty="0"/>
              <a:t>Interactive information (Wikipedia)</a:t>
            </a:r>
            <a:endParaRPr lang="en-VG" dirty="0"/>
          </a:p>
        </p:txBody>
      </p:sp>
      <p:sp>
        <p:nvSpPr>
          <p:cNvPr id="5" name="TextBox 4">
            <a:extLst>
              <a:ext uri="{FF2B5EF4-FFF2-40B4-BE49-F238E27FC236}">
                <a16:creationId xmlns:a16="http://schemas.microsoft.com/office/drawing/2014/main" id="{4D863E67-FEA2-4C36-9C96-89FA872B6DB1}"/>
              </a:ext>
            </a:extLst>
          </p:cNvPr>
          <p:cNvSpPr txBox="1"/>
          <p:nvPr/>
        </p:nvSpPr>
        <p:spPr>
          <a:xfrm>
            <a:off x="838200" y="5730175"/>
            <a:ext cx="11438965" cy="830997"/>
          </a:xfrm>
          <a:prstGeom prst="rect">
            <a:avLst/>
          </a:prstGeom>
          <a:noFill/>
        </p:spPr>
        <p:txBody>
          <a:bodyPr wrap="square">
            <a:spAutoFit/>
          </a:bodyPr>
          <a:lstStyle/>
          <a:p>
            <a:r>
              <a:rPr lang="en-GB" sz="2400" dirty="0"/>
              <a:t>In addition to the public Internet, web applications have been widely adopted inside organizations to support key business functions. (</a:t>
            </a:r>
            <a:r>
              <a:rPr lang="en-GB" sz="2400" dirty="0" err="1"/>
              <a:t>eg</a:t>
            </a:r>
            <a:r>
              <a:rPr lang="en-GB" sz="2400" dirty="0"/>
              <a:t>: HR apps, ERP, MS office live)</a:t>
            </a:r>
            <a:endParaRPr lang="en-VG" sz="2400" dirty="0"/>
          </a:p>
        </p:txBody>
      </p:sp>
    </p:spTree>
    <p:extLst>
      <p:ext uri="{BB962C8B-B14F-4D97-AF65-F5344CB8AC3E}">
        <p14:creationId xmlns:p14="http://schemas.microsoft.com/office/powerpoint/2010/main" val="5455751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EEF7F-3C29-489B-94EF-7FCBE1B1BE29}"/>
              </a:ext>
            </a:extLst>
          </p:cNvPr>
          <p:cNvSpPr>
            <a:spLocks noGrp="1"/>
          </p:cNvSpPr>
          <p:nvPr>
            <p:ph type="title"/>
          </p:nvPr>
        </p:nvSpPr>
        <p:spPr>
          <a:xfrm>
            <a:off x="328060" y="185019"/>
            <a:ext cx="10515600" cy="780281"/>
          </a:xfrm>
        </p:spPr>
        <p:txBody>
          <a:bodyPr/>
          <a:lstStyle/>
          <a:p>
            <a:r>
              <a:rPr lang="en-US" dirty="0"/>
              <a:t>Web Application Security</a:t>
            </a:r>
            <a:endParaRPr lang="en-VG" dirty="0"/>
          </a:p>
        </p:txBody>
      </p:sp>
      <p:sp>
        <p:nvSpPr>
          <p:cNvPr id="3" name="Content Placeholder 2">
            <a:extLst>
              <a:ext uri="{FF2B5EF4-FFF2-40B4-BE49-F238E27FC236}">
                <a16:creationId xmlns:a16="http://schemas.microsoft.com/office/drawing/2014/main" id="{A0F7549B-B22D-4CFD-9A8B-0799C8CF2C21}"/>
              </a:ext>
            </a:extLst>
          </p:cNvPr>
          <p:cNvSpPr>
            <a:spLocks noGrp="1"/>
          </p:cNvSpPr>
          <p:nvPr>
            <p:ph idx="1"/>
          </p:nvPr>
        </p:nvSpPr>
        <p:spPr>
          <a:xfrm>
            <a:off x="549441" y="1253330"/>
            <a:ext cx="11482137" cy="4993465"/>
          </a:xfrm>
        </p:spPr>
        <p:txBody>
          <a:bodyPr>
            <a:normAutofit lnSpcReduction="10000"/>
          </a:bodyPr>
          <a:lstStyle/>
          <a:p>
            <a:pPr marL="0" indent="0">
              <a:buNone/>
            </a:pPr>
            <a:r>
              <a:rPr lang="en-US" sz="2400" b="1" dirty="0"/>
              <a:t>“This Site Is Secure”</a:t>
            </a:r>
          </a:p>
          <a:p>
            <a:pPr marL="0" indent="0">
              <a:buNone/>
            </a:pPr>
            <a:r>
              <a:rPr lang="en-GB" sz="2400" dirty="0"/>
              <a:t>Most applications state that they are secure because they use SSL/compliance with a standard.</a:t>
            </a:r>
          </a:p>
          <a:p>
            <a:pPr marL="0" indent="0">
              <a:buNone/>
            </a:pPr>
            <a:endParaRPr lang="en-GB" sz="2400" dirty="0"/>
          </a:p>
          <a:p>
            <a:pPr marL="0" indent="0">
              <a:buNone/>
            </a:pPr>
            <a:r>
              <a:rPr lang="en-GB" sz="2400" dirty="0" err="1"/>
              <a:t>Eg</a:t>
            </a:r>
            <a:r>
              <a:rPr lang="en-GB" sz="2400" dirty="0"/>
              <a:t>: </a:t>
            </a:r>
          </a:p>
          <a:p>
            <a:r>
              <a:rPr lang="en-GB" sz="2200" i="1" dirty="0">
                <a:solidFill>
                  <a:schemeClr val="accent2">
                    <a:lumMod val="50000"/>
                  </a:schemeClr>
                </a:solidFill>
              </a:rPr>
              <a:t>“This site is absolutely secure. It has been designed to use 128-bit Secure Socket Layer (SSL) technology to prevent unauthorized users from viewing any of your information. You may use this site with peace of mind that your data is safe with us.”</a:t>
            </a:r>
          </a:p>
          <a:p>
            <a:r>
              <a:rPr lang="en-GB" sz="2200" i="1" dirty="0">
                <a:solidFill>
                  <a:schemeClr val="accent2">
                    <a:lumMod val="50000"/>
                  </a:schemeClr>
                </a:solidFill>
              </a:rPr>
              <a:t>“We take security very seriously. Our web site is scanned daily to ensure that we remain PCI compliant and safe from hackers. You can see the date of the latest scan on the logo below, and you are guaranteed that our web site is safe to use.”</a:t>
            </a:r>
          </a:p>
          <a:p>
            <a:pPr marL="0" indent="0">
              <a:buNone/>
            </a:pPr>
            <a:endParaRPr lang="en-GB" sz="2400" b="1" dirty="0"/>
          </a:p>
          <a:p>
            <a:pPr marL="0" indent="0">
              <a:buNone/>
            </a:pPr>
            <a:r>
              <a:rPr lang="en-GB" sz="2400" dirty="0"/>
              <a:t>In fact, the majority of web applications are insecure, despite the widespread usage of SSL technology and the adoption of standards like PCIDSS.</a:t>
            </a:r>
            <a:endParaRPr lang="en-VG" sz="2400" dirty="0"/>
          </a:p>
        </p:txBody>
      </p:sp>
    </p:spTree>
    <p:extLst>
      <p:ext uri="{BB962C8B-B14F-4D97-AF65-F5344CB8AC3E}">
        <p14:creationId xmlns:p14="http://schemas.microsoft.com/office/powerpoint/2010/main" val="31748634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2B4D0A7-8C92-4F9F-9986-1B0D7149F4B6}"/>
              </a:ext>
            </a:extLst>
          </p:cNvPr>
          <p:cNvPicPr>
            <a:picLocks noChangeAspect="1"/>
          </p:cNvPicPr>
          <p:nvPr/>
        </p:nvPicPr>
        <p:blipFill rotWithShape="1">
          <a:blip r:embed="rId3"/>
          <a:srcRect t="2450"/>
          <a:stretch/>
        </p:blipFill>
        <p:spPr>
          <a:xfrm>
            <a:off x="1059181" y="69208"/>
            <a:ext cx="10073638" cy="6000693"/>
          </a:xfrm>
          <a:prstGeom prst="rect">
            <a:avLst/>
          </a:prstGeom>
        </p:spPr>
      </p:pic>
      <p:sp>
        <p:nvSpPr>
          <p:cNvPr id="7" name="TextBox 6">
            <a:extLst>
              <a:ext uri="{FF2B5EF4-FFF2-40B4-BE49-F238E27FC236}">
                <a16:creationId xmlns:a16="http://schemas.microsoft.com/office/drawing/2014/main" id="{55453939-1819-4727-8DC8-3E8CA24B0B35}"/>
              </a:ext>
            </a:extLst>
          </p:cNvPr>
          <p:cNvSpPr txBox="1"/>
          <p:nvPr/>
        </p:nvSpPr>
        <p:spPr>
          <a:xfrm>
            <a:off x="936859" y="6188454"/>
            <a:ext cx="10318282" cy="369332"/>
          </a:xfrm>
          <a:prstGeom prst="rect">
            <a:avLst/>
          </a:prstGeom>
          <a:noFill/>
        </p:spPr>
        <p:txBody>
          <a:bodyPr wrap="square">
            <a:spAutoFit/>
          </a:bodyPr>
          <a:lstStyle/>
          <a:p>
            <a:r>
              <a:rPr lang="en-GB" dirty="0"/>
              <a:t>The incidence of some common web application vulnerabilities in applications tested during 2007 and 2011. </a:t>
            </a:r>
            <a:endParaRPr lang="en-VG" dirty="0"/>
          </a:p>
        </p:txBody>
      </p:sp>
    </p:spTree>
    <p:extLst>
      <p:ext uri="{BB962C8B-B14F-4D97-AF65-F5344CB8AC3E}">
        <p14:creationId xmlns:p14="http://schemas.microsoft.com/office/powerpoint/2010/main" val="11940702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C467F5-3391-4256-BD65-278D60F3FF6E}"/>
              </a:ext>
            </a:extLst>
          </p:cNvPr>
          <p:cNvSpPr>
            <a:spLocks noGrp="1"/>
          </p:cNvSpPr>
          <p:nvPr>
            <p:ph idx="1"/>
          </p:nvPr>
        </p:nvSpPr>
        <p:spPr>
          <a:xfrm>
            <a:off x="587944" y="1402114"/>
            <a:ext cx="11462886" cy="3429769"/>
          </a:xfrm>
        </p:spPr>
        <p:txBody>
          <a:bodyPr>
            <a:normAutofit/>
          </a:bodyPr>
          <a:lstStyle/>
          <a:p>
            <a:r>
              <a:rPr lang="en-GB" sz="2400" dirty="0"/>
              <a:t>SSL is an excellent technology that protects the confidentiality and integrity of data in transit between the user’s browser and the web server.</a:t>
            </a:r>
          </a:p>
          <a:p>
            <a:r>
              <a:rPr lang="en-GB" sz="2400" dirty="0"/>
              <a:t>It can help defend against eavesdroppers, and it can provide assurance to the user of the identity of the web server he is dealing with. </a:t>
            </a:r>
          </a:p>
          <a:p>
            <a:r>
              <a:rPr lang="en-GB" sz="2400" dirty="0"/>
              <a:t>But it does not stop attacks that directly target the server or client components of an application, as most successful attacks do.</a:t>
            </a:r>
          </a:p>
          <a:p>
            <a:r>
              <a:rPr lang="en-GB" sz="2400" dirty="0"/>
              <a:t>Regardless of whether they use SSL, most web applications still contain security flaws. </a:t>
            </a:r>
            <a:endParaRPr lang="en-VG" sz="2400" dirty="0"/>
          </a:p>
        </p:txBody>
      </p:sp>
    </p:spTree>
    <p:extLst>
      <p:ext uri="{BB962C8B-B14F-4D97-AF65-F5344CB8AC3E}">
        <p14:creationId xmlns:p14="http://schemas.microsoft.com/office/powerpoint/2010/main" val="39002722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FA9CF-E9A3-424E-A468-F6263F395390}"/>
              </a:ext>
            </a:extLst>
          </p:cNvPr>
          <p:cNvSpPr>
            <a:spLocks noGrp="1"/>
          </p:cNvSpPr>
          <p:nvPr>
            <p:ph type="title"/>
          </p:nvPr>
        </p:nvSpPr>
        <p:spPr>
          <a:xfrm>
            <a:off x="404261" y="365126"/>
            <a:ext cx="11463688" cy="751406"/>
          </a:xfrm>
        </p:spPr>
        <p:txBody>
          <a:bodyPr>
            <a:normAutofit fontScale="90000"/>
          </a:bodyPr>
          <a:lstStyle/>
          <a:p>
            <a:r>
              <a:rPr lang="en-GB" dirty="0"/>
              <a:t>The Core Security Problem: Users Can Submit</a:t>
            </a:r>
            <a:br>
              <a:rPr lang="en-GB" dirty="0"/>
            </a:br>
            <a:r>
              <a:rPr lang="en-GB" dirty="0"/>
              <a:t>Arbitrary Input</a:t>
            </a:r>
            <a:endParaRPr lang="en-VG" dirty="0"/>
          </a:p>
        </p:txBody>
      </p:sp>
      <p:sp>
        <p:nvSpPr>
          <p:cNvPr id="3" name="Content Placeholder 2">
            <a:extLst>
              <a:ext uri="{FF2B5EF4-FFF2-40B4-BE49-F238E27FC236}">
                <a16:creationId xmlns:a16="http://schemas.microsoft.com/office/drawing/2014/main" id="{4096F321-9A65-4063-8D36-8BBE599691BC}"/>
              </a:ext>
            </a:extLst>
          </p:cNvPr>
          <p:cNvSpPr>
            <a:spLocks noGrp="1"/>
          </p:cNvSpPr>
          <p:nvPr>
            <p:ph idx="1"/>
          </p:nvPr>
        </p:nvSpPr>
        <p:spPr>
          <a:xfrm>
            <a:off x="404261" y="2114384"/>
            <a:ext cx="11598442" cy="3285389"/>
          </a:xfrm>
        </p:spPr>
        <p:txBody>
          <a:bodyPr>
            <a:normAutofit/>
          </a:bodyPr>
          <a:lstStyle/>
          <a:p>
            <a:r>
              <a:rPr lang="en-GB" sz="2400" dirty="0"/>
              <a:t>Fundamental problem web apps must address to be secure - Users can submit arbitrary input to the server-side application, because the client is outside of application’s control.</a:t>
            </a:r>
          </a:p>
          <a:p>
            <a:r>
              <a:rPr lang="en-GB" sz="2400" dirty="0"/>
              <a:t>The application must assume that all input is potentially malicious. </a:t>
            </a:r>
          </a:p>
          <a:p>
            <a:r>
              <a:rPr lang="en-GB" sz="2400" dirty="0"/>
              <a:t>Therefore, it must take steps to ensure that attackers cannot use crafted input to compromise the application by interfering with its logic and behaviour, thus gaining unauthorized access to its data and functionality.</a:t>
            </a:r>
            <a:endParaRPr lang="en-VG" sz="2400" dirty="0"/>
          </a:p>
        </p:txBody>
      </p:sp>
    </p:spTree>
    <p:extLst>
      <p:ext uri="{BB962C8B-B14F-4D97-AF65-F5344CB8AC3E}">
        <p14:creationId xmlns:p14="http://schemas.microsoft.com/office/powerpoint/2010/main" val="2755579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599C19-6FD2-4F61-9D87-347AF3E157DF}"/>
              </a:ext>
            </a:extLst>
          </p:cNvPr>
          <p:cNvSpPr>
            <a:spLocks noGrp="1"/>
          </p:cNvSpPr>
          <p:nvPr>
            <p:ph idx="1"/>
          </p:nvPr>
        </p:nvSpPr>
        <p:spPr>
          <a:xfrm>
            <a:off x="328061" y="689844"/>
            <a:ext cx="11626516" cy="4998687"/>
          </a:xfrm>
        </p:spPr>
        <p:txBody>
          <a:bodyPr>
            <a:normAutofit/>
          </a:bodyPr>
          <a:lstStyle/>
          <a:p>
            <a:pPr marL="0" indent="0">
              <a:buNone/>
            </a:pPr>
            <a:r>
              <a:rPr lang="en-GB" sz="2400" b="1" dirty="0"/>
              <a:t>This core problem manifests itself in various ways:</a:t>
            </a:r>
          </a:p>
          <a:p>
            <a:pPr marL="0" indent="0">
              <a:buNone/>
            </a:pPr>
            <a:endParaRPr lang="en-GB" sz="2400" dirty="0"/>
          </a:p>
          <a:p>
            <a:r>
              <a:rPr lang="en-GB" sz="2400" dirty="0"/>
              <a:t>Users can interfere with any piece of data transmitted between the client and the server, including request parameters, cookies, and HTTP headers. Any security controls implemented on the client side, such as input validation checks, can be easily circumvented. </a:t>
            </a:r>
          </a:p>
          <a:p>
            <a:r>
              <a:rPr lang="en-GB" sz="2400" dirty="0"/>
              <a:t>Users can send requests in any sequence and can submit parameters at a different stage than the application expects, more than once, or not at all. Any assumption developers make about how users will interact with the application may be violated.</a:t>
            </a:r>
          </a:p>
          <a:p>
            <a:r>
              <a:rPr lang="en-GB" sz="2400" dirty="0"/>
              <a:t>Users are not restricted to using only a web browser to access the application. Numerous widely available tools operate alongside, or independently of, a browser to help attack web applications. These tools can make requests that no browser would ordinarily make and can generate huge numbers of requests quickly to find and exploit problems.</a:t>
            </a:r>
          </a:p>
          <a:p>
            <a:pPr marL="0" indent="0">
              <a:buNone/>
            </a:pPr>
            <a:endParaRPr lang="en-VG" dirty="0"/>
          </a:p>
        </p:txBody>
      </p:sp>
    </p:spTree>
    <p:extLst>
      <p:ext uri="{BB962C8B-B14F-4D97-AF65-F5344CB8AC3E}">
        <p14:creationId xmlns:p14="http://schemas.microsoft.com/office/powerpoint/2010/main" val="37338462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409156-8384-4193-9D91-09E2F4D890B0}"/>
              </a:ext>
            </a:extLst>
          </p:cNvPr>
          <p:cNvSpPr>
            <a:spLocks noGrp="1"/>
          </p:cNvSpPr>
          <p:nvPr>
            <p:ph idx="1"/>
          </p:nvPr>
        </p:nvSpPr>
        <p:spPr>
          <a:xfrm>
            <a:off x="287554" y="853473"/>
            <a:ext cx="11616891" cy="4960185"/>
          </a:xfrm>
        </p:spPr>
        <p:txBody>
          <a:bodyPr>
            <a:normAutofit/>
          </a:bodyPr>
          <a:lstStyle/>
          <a:p>
            <a:pPr marL="0" indent="0">
              <a:buNone/>
            </a:pPr>
            <a:r>
              <a:rPr lang="en-GB" sz="2400" dirty="0"/>
              <a:t>The majority of attacks against web applications involve sending input to the server that is crafted to cause some event that was not expected or desired by the application’s designer.</a:t>
            </a:r>
          </a:p>
          <a:p>
            <a:pPr marL="0" indent="0">
              <a:buNone/>
            </a:pPr>
            <a:r>
              <a:rPr lang="en-GB" sz="2400" dirty="0" err="1"/>
              <a:t>Eg</a:t>
            </a:r>
            <a:r>
              <a:rPr lang="en-GB" sz="2400" dirty="0"/>
              <a:t>:</a:t>
            </a:r>
          </a:p>
          <a:p>
            <a:r>
              <a:rPr lang="en-GB" sz="2400" dirty="0">
                <a:solidFill>
                  <a:schemeClr val="accent2">
                    <a:lumMod val="50000"/>
                  </a:schemeClr>
                </a:solidFill>
              </a:rPr>
              <a:t>Changing the price of a product transmitted in a hidden HTML form field to fraudulently purchase the product for a cheaper amount.</a:t>
            </a:r>
          </a:p>
          <a:p>
            <a:r>
              <a:rPr lang="en-GB" sz="2400" dirty="0">
                <a:solidFill>
                  <a:schemeClr val="accent2">
                    <a:lumMod val="50000"/>
                  </a:schemeClr>
                </a:solidFill>
              </a:rPr>
              <a:t>Modifying a session token transmitted in an HTTP cookie to hijack the session of another authenticated user.</a:t>
            </a:r>
          </a:p>
          <a:p>
            <a:r>
              <a:rPr lang="en-GB" sz="2400" dirty="0">
                <a:solidFill>
                  <a:schemeClr val="accent2">
                    <a:lumMod val="50000"/>
                  </a:schemeClr>
                </a:solidFill>
              </a:rPr>
              <a:t>Removing certain parameters that normally are submitted to exploit a logic flaw in the application’s processing.</a:t>
            </a:r>
          </a:p>
          <a:p>
            <a:r>
              <a:rPr lang="en-GB" sz="2400" dirty="0">
                <a:solidFill>
                  <a:schemeClr val="accent2">
                    <a:lumMod val="50000"/>
                  </a:schemeClr>
                </a:solidFill>
              </a:rPr>
              <a:t>Altering some input that will be processed by a back-end database to inject a malicious database query and access sensitive data.</a:t>
            </a:r>
            <a:endParaRPr lang="en-VG" sz="2400" dirty="0">
              <a:solidFill>
                <a:schemeClr val="accent2">
                  <a:lumMod val="50000"/>
                </a:schemeClr>
              </a:solidFill>
            </a:endParaRPr>
          </a:p>
        </p:txBody>
      </p:sp>
    </p:spTree>
    <p:extLst>
      <p:ext uri="{BB962C8B-B14F-4D97-AF65-F5344CB8AC3E}">
        <p14:creationId xmlns:p14="http://schemas.microsoft.com/office/powerpoint/2010/main" val="40518323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A0ED3-62A3-4634-A9F9-91FFE26FD7EB}"/>
              </a:ext>
            </a:extLst>
          </p:cNvPr>
          <p:cNvSpPr>
            <a:spLocks noGrp="1"/>
          </p:cNvSpPr>
          <p:nvPr>
            <p:ph type="title"/>
          </p:nvPr>
        </p:nvSpPr>
        <p:spPr>
          <a:xfrm>
            <a:off x="366562" y="85993"/>
            <a:ext cx="10515600" cy="780280"/>
          </a:xfrm>
        </p:spPr>
        <p:txBody>
          <a:bodyPr>
            <a:normAutofit/>
          </a:bodyPr>
          <a:lstStyle/>
          <a:p>
            <a:r>
              <a:rPr lang="en-US" dirty="0"/>
              <a:t>Key Problem Factors</a:t>
            </a:r>
            <a:endParaRPr lang="en-VG" dirty="0"/>
          </a:p>
        </p:txBody>
      </p:sp>
      <p:sp>
        <p:nvSpPr>
          <p:cNvPr id="3" name="Content Placeholder 2">
            <a:extLst>
              <a:ext uri="{FF2B5EF4-FFF2-40B4-BE49-F238E27FC236}">
                <a16:creationId xmlns:a16="http://schemas.microsoft.com/office/drawing/2014/main" id="{2188E77E-2830-49C5-B21E-BCE3D1280667}"/>
              </a:ext>
            </a:extLst>
          </p:cNvPr>
          <p:cNvSpPr>
            <a:spLocks noGrp="1"/>
          </p:cNvSpPr>
          <p:nvPr>
            <p:ph idx="1"/>
          </p:nvPr>
        </p:nvSpPr>
        <p:spPr>
          <a:xfrm>
            <a:off x="366561" y="1151857"/>
            <a:ext cx="11693893" cy="5287444"/>
          </a:xfrm>
        </p:spPr>
        <p:txBody>
          <a:bodyPr>
            <a:normAutofit/>
          </a:bodyPr>
          <a:lstStyle/>
          <a:p>
            <a:pPr marL="0" indent="0">
              <a:buNone/>
            </a:pPr>
            <a:r>
              <a:rPr lang="en-US" b="1" dirty="0"/>
              <a:t>Underdeveloped Security Awareness</a:t>
            </a:r>
          </a:p>
          <a:p>
            <a:r>
              <a:rPr lang="en-GB" sz="2400" dirty="0"/>
              <a:t>Although awareness of web application security issues has grown in recent years, it remains less well-developed than in longer-established areas such as networks and operating systems.</a:t>
            </a:r>
          </a:p>
          <a:p>
            <a:r>
              <a:rPr lang="en-GB" sz="2400" dirty="0"/>
              <a:t>Although most people working in IT security have a reasonable grasp of the essentials of securing networks and hardening hosts, widespread confusion and misconception still exist about many of the core concepts involved in web application security.</a:t>
            </a:r>
          </a:p>
          <a:p>
            <a:r>
              <a:rPr lang="en-GB" sz="2400" dirty="0"/>
              <a:t>Developers frequently integrate tens or hundreds of third-party libraries or packages. These abstractions simplify development but obscure the underlying technologies and their security implications.</a:t>
            </a:r>
          </a:p>
          <a:p>
            <a:r>
              <a:rPr lang="en-GB" sz="2400" dirty="0"/>
              <a:t>It is common to meet experienced web application developers who make major assumptions about the security provided by their programming framework and to whom an explanation of many basic types of flaws comes as a revelation. </a:t>
            </a:r>
            <a:endParaRPr lang="en-VG" sz="2400" dirty="0"/>
          </a:p>
        </p:txBody>
      </p:sp>
    </p:spTree>
    <p:extLst>
      <p:ext uri="{BB962C8B-B14F-4D97-AF65-F5344CB8AC3E}">
        <p14:creationId xmlns:p14="http://schemas.microsoft.com/office/powerpoint/2010/main" val="28063410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AF84B1-F6A6-43B7-848A-A37980FFB9F1}"/>
              </a:ext>
            </a:extLst>
          </p:cNvPr>
          <p:cNvSpPr>
            <a:spLocks noGrp="1"/>
          </p:cNvSpPr>
          <p:nvPr>
            <p:ph idx="1"/>
          </p:nvPr>
        </p:nvSpPr>
        <p:spPr>
          <a:xfrm>
            <a:off x="494498" y="1492734"/>
            <a:ext cx="11203004" cy="4320925"/>
          </a:xfrm>
        </p:spPr>
        <p:txBody>
          <a:bodyPr/>
          <a:lstStyle/>
          <a:p>
            <a:pPr marL="0" indent="0">
              <a:buNone/>
            </a:pPr>
            <a:r>
              <a:rPr lang="en-US" b="1" dirty="0"/>
              <a:t>Custom Development</a:t>
            </a:r>
          </a:p>
          <a:p>
            <a:r>
              <a:rPr lang="en-GB" sz="2400" dirty="0"/>
              <a:t>Most web applications are developed in-house by an organization’s own staff or third-party contractors.</a:t>
            </a:r>
            <a:endParaRPr lang="en-US" sz="2400" b="1" dirty="0"/>
          </a:p>
          <a:p>
            <a:r>
              <a:rPr lang="en-GB" sz="2400" dirty="0"/>
              <a:t>Even where an application employs well-established components, these are typically customized or bolted together using new code.</a:t>
            </a:r>
          </a:p>
          <a:p>
            <a:r>
              <a:rPr lang="en-GB" sz="2400" dirty="0"/>
              <a:t>In this situation, every application is different and may contain its own unique defects.</a:t>
            </a:r>
          </a:p>
          <a:p>
            <a:r>
              <a:rPr lang="en-GB" sz="2400" dirty="0"/>
              <a:t>This stands in contrast to a typical infrastructure deployment, in which an organization can purchase a best-of-breed product and install it in line with industry-standard guidelines.</a:t>
            </a:r>
            <a:endParaRPr lang="en-VG" sz="2400" dirty="0"/>
          </a:p>
        </p:txBody>
      </p:sp>
      <p:sp>
        <p:nvSpPr>
          <p:cNvPr id="4" name="Title 1">
            <a:extLst>
              <a:ext uri="{FF2B5EF4-FFF2-40B4-BE49-F238E27FC236}">
                <a16:creationId xmlns:a16="http://schemas.microsoft.com/office/drawing/2014/main" id="{69281A10-FF21-4694-A4BB-AB0CA3E21BE7}"/>
              </a:ext>
            </a:extLst>
          </p:cNvPr>
          <p:cNvSpPr>
            <a:spLocks noGrp="1"/>
          </p:cNvSpPr>
          <p:nvPr>
            <p:ph type="title"/>
          </p:nvPr>
        </p:nvSpPr>
        <p:spPr>
          <a:xfrm>
            <a:off x="366562" y="85993"/>
            <a:ext cx="10515600" cy="780280"/>
          </a:xfrm>
        </p:spPr>
        <p:txBody>
          <a:bodyPr>
            <a:normAutofit/>
          </a:bodyPr>
          <a:lstStyle/>
          <a:p>
            <a:r>
              <a:rPr lang="en-US" dirty="0"/>
              <a:t>Key Problem Factors cont.</a:t>
            </a:r>
            <a:endParaRPr lang="en-VG" dirty="0"/>
          </a:p>
        </p:txBody>
      </p:sp>
    </p:spTree>
    <p:extLst>
      <p:ext uri="{BB962C8B-B14F-4D97-AF65-F5344CB8AC3E}">
        <p14:creationId xmlns:p14="http://schemas.microsoft.com/office/powerpoint/2010/main" val="7080029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80F308-0477-4AB6-AC6D-93274E281978}"/>
              </a:ext>
            </a:extLst>
          </p:cNvPr>
          <p:cNvSpPr>
            <a:spLocks noGrp="1"/>
          </p:cNvSpPr>
          <p:nvPr>
            <p:ph idx="1"/>
          </p:nvPr>
        </p:nvSpPr>
        <p:spPr>
          <a:xfrm>
            <a:off x="452388" y="1232034"/>
            <a:ext cx="11646568" cy="5245769"/>
          </a:xfrm>
        </p:spPr>
        <p:txBody>
          <a:bodyPr>
            <a:normAutofit/>
          </a:bodyPr>
          <a:lstStyle/>
          <a:p>
            <a:pPr marL="0" indent="0">
              <a:buNone/>
            </a:pPr>
            <a:r>
              <a:rPr lang="en-US" b="1" dirty="0"/>
              <a:t>Deceptive Simplicity</a:t>
            </a:r>
          </a:p>
          <a:p>
            <a:r>
              <a:rPr lang="en-GB" sz="2400" dirty="0"/>
              <a:t>With today’s web application platforms and development tools, it is possible for a novice programmer to create a powerful application from scratch in a short period of time.</a:t>
            </a:r>
          </a:p>
          <a:p>
            <a:r>
              <a:rPr lang="en-GB" sz="2400" dirty="0"/>
              <a:t>There is a huge difference between producing code that is functional and code that is secure. </a:t>
            </a:r>
          </a:p>
          <a:p>
            <a:r>
              <a:rPr lang="en-GB" sz="2400" dirty="0"/>
              <a:t>Many web applications are created by well meaning individuals who simply lack the knowledge and experience to identify where security problems may arise.</a:t>
            </a:r>
          </a:p>
          <a:p>
            <a:r>
              <a:rPr lang="en-GB" sz="2400" dirty="0"/>
              <a:t>Use of application frameworks (</a:t>
            </a:r>
            <a:r>
              <a:rPr lang="en-GB" sz="2400" dirty="0" err="1"/>
              <a:t>eg</a:t>
            </a:r>
            <a:r>
              <a:rPr lang="en-GB" sz="2400" dirty="0"/>
              <a:t>: Liferay, </a:t>
            </a:r>
            <a:r>
              <a:rPr lang="en-GB" sz="2400" dirty="0" err="1"/>
              <a:t>Appfuse</a:t>
            </a:r>
            <a:r>
              <a:rPr lang="en-GB" sz="2400" dirty="0"/>
              <a:t>) that provide ready-made code components to handle numerous common areas of functionality: These products make it quick and easy to create working applications without requiring a technical understanding of how the applications work or the potential risks they may contain. This also means many companies use the same frameworks. So, when a vulnerability is discovered, it affects many unrelated applications. </a:t>
            </a:r>
          </a:p>
          <a:p>
            <a:pPr marL="0" indent="0">
              <a:buNone/>
            </a:pPr>
            <a:endParaRPr lang="en-VG" sz="2400" dirty="0"/>
          </a:p>
        </p:txBody>
      </p:sp>
      <p:sp>
        <p:nvSpPr>
          <p:cNvPr id="4" name="Title 1">
            <a:extLst>
              <a:ext uri="{FF2B5EF4-FFF2-40B4-BE49-F238E27FC236}">
                <a16:creationId xmlns:a16="http://schemas.microsoft.com/office/drawing/2014/main" id="{DEA03863-0A7B-4218-B5AC-5E1B7888D3E4}"/>
              </a:ext>
            </a:extLst>
          </p:cNvPr>
          <p:cNvSpPr>
            <a:spLocks noGrp="1"/>
          </p:cNvSpPr>
          <p:nvPr>
            <p:ph type="title"/>
          </p:nvPr>
        </p:nvSpPr>
        <p:spPr>
          <a:xfrm>
            <a:off x="366562" y="85993"/>
            <a:ext cx="10515600" cy="780280"/>
          </a:xfrm>
        </p:spPr>
        <p:txBody>
          <a:bodyPr>
            <a:normAutofit/>
          </a:bodyPr>
          <a:lstStyle/>
          <a:p>
            <a:r>
              <a:rPr lang="en-US" dirty="0"/>
              <a:t>Key Problem Factors cont.</a:t>
            </a:r>
            <a:endParaRPr lang="en-VG" dirty="0"/>
          </a:p>
        </p:txBody>
      </p:sp>
    </p:spTree>
    <p:extLst>
      <p:ext uri="{BB962C8B-B14F-4D97-AF65-F5344CB8AC3E}">
        <p14:creationId xmlns:p14="http://schemas.microsoft.com/office/powerpoint/2010/main" val="16435928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916A1E-C55D-4ADF-897D-F50FC32C5230}"/>
              </a:ext>
            </a:extLst>
          </p:cNvPr>
          <p:cNvSpPr>
            <a:spLocks noGrp="1"/>
          </p:cNvSpPr>
          <p:nvPr>
            <p:ph idx="1"/>
          </p:nvPr>
        </p:nvSpPr>
        <p:spPr>
          <a:xfrm>
            <a:off x="482065" y="1411739"/>
            <a:ext cx="10515600" cy="4351338"/>
          </a:xfrm>
        </p:spPr>
        <p:txBody>
          <a:bodyPr/>
          <a:lstStyle/>
          <a:p>
            <a:pPr marL="0" indent="0">
              <a:buNone/>
            </a:pPr>
            <a:r>
              <a:rPr lang="en-GB" b="1" dirty="0"/>
              <a:t>Rapidly Evolving Threat Profile</a:t>
            </a:r>
          </a:p>
          <a:p>
            <a:r>
              <a:rPr lang="en-GB" sz="2400" dirty="0"/>
              <a:t>Research into web application attacks and </a:t>
            </a:r>
            <a:r>
              <a:rPr lang="en-GB" sz="2400" dirty="0" err="1"/>
              <a:t>defenses</a:t>
            </a:r>
            <a:r>
              <a:rPr lang="en-GB" sz="2400" dirty="0"/>
              <a:t> continues to be a thriving area in which new concepts and threats are conceived at a faster rate than is now the case for older technologies.</a:t>
            </a:r>
          </a:p>
          <a:p>
            <a:r>
              <a:rPr lang="en-GB" sz="2400" dirty="0"/>
              <a:t>Particularly on the client side, it is common for the accepted </a:t>
            </a:r>
            <a:r>
              <a:rPr lang="en-GB" sz="2400" dirty="0" err="1"/>
              <a:t>defenses</a:t>
            </a:r>
            <a:r>
              <a:rPr lang="en-GB" sz="2400" dirty="0"/>
              <a:t> against a particular attack to be undermined by research that demonstrates a new attack technique. </a:t>
            </a:r>
          </a:p>
          <a:p>
            <a:r>
              <a:rPr lang="en-GB" sz="2400" dirty="0"/>
              <a:t>A development team that begins a project with a complete knowledge of current threats may have lost this status by the time the application is completed and deployed.</a:t>
            </a:r>
            <a:endParaRPr lang="en-VG" sz="2400" dirty="0"/>
          </a:p>
        </p:txBody>
      </p:sp>
      <p:sp>
        <p:nvSpPr>
          <p:cNvPr id="4" name="Title 1">
            <a:extLst>
              <a:ext uri="{FF2B5EF4-FFF2-40B4-BE49-F238E27FC236}">
                <a16:creationId xmlns:a16="http://schemas.microsoft.com/office/drawing/2014/main" id="{3D000EE5-8AD2-41DF-B3A0-F5B153D491CC}"/>
              </a:ext>
            </a:extLst>
          </p:cNvPr>
          <p:cNvSpPr>
            <a:spLocks noGrp="1"/>
          </p:cNvSpPr>
          <p:nvPr>
            <p:ph type="title"/>
          </p:nvPr>
        </p:nvSpPr>
        <p:spPr>
          <a:xfrm>
            <a:off x="366562" y="85993"/>
            <a:ext cx="10515600" cy="780280"/>
          </a:xfrm>
        </p:spPr>
        <p:txBody>
          <a:bodyPr>
            <a:normAutofit/>
          </a:bodyPr>
          <a:lstStyle/>
          <a:p>
            <a:r>
              <a:rPr lang="en-US" dirty="0"/>
              <a:t>Key Problem Factors cont.</a:t>
            </a:r>
            <a:endParaRPr lang="en-VG" dirty="0"/>
          </a:p>
        </p:txBody>
      </p:sp>
    </p:spTree>
    <p:extLst>
      <p:ext uri="{BB962C8B-B14F-4D97-AF65-F5344CB8AC3E}">
        <p14:creationId xmlns:p14="http://schemas.microsoft.com/office/powerpoint/2010/main" val="9382381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916A1E-C55D-4ADF-897D-F50FC32C5230}"/>
              </a:ext>
            </a:extLst>
          </p:cNvPr>
          <p:cNvSpPr>
            <a:spLocks noGrp="1"/>
          </p:cNvSpPr>
          <p:nvPr>
            <p:ph idx="1"/>
          </p:nvPr>
        </p:nvSpPr>
        <p:spPr>
          <a:xfrm>
            <a:off x="465622" y="1497547"/>
            <a:ext cx="11260756" cy="4922504"/>
          </a:xfrm>
        </p:spPr>
        <p:txBody>
          <a:bodyPr>
            <a:normAutofit/>
          </a:bodyPr>
          <a:lstStyle/>
          <a:p>
            <a:pPr marL="0" indent="0">
              <a:buNone/>
            </a:pPr>
            <a:r>
              <a:rPr lang="en-GB" b="1" dirty="0"/>
              <a:t>Resource and Time Constraints</a:t>
            </a:r>
          </a:p>
          <a:p>
            <a:r>
              <a:rPr lang="en-GB" sz="2400" dirty="0"/>
              <a:t>Most web application development projects are subject to strict constraints on time and resources, arising from the economics of in-house, one-off development. </a:t>
            </a:r>
          </a:p>
          <a:p>
            <a:r>
              <a:rPr lang="en-GB" sz="2400" dirty="0"/>
              <a:t>In most organizations, it is often infeasible to employ dedicated security expertise in the design or development teams. And due to project slippage, security testing by specialists is often left until very late in the project’s life cycle.</a:t>
            </a:r>
          </a:p>
          <a:p>
            <a:r>
              <a:rPr lang="en-GB" sz="2400" dirty="0"/>
              <a:t>In the balancing of competing priorities, the need to produce a stable and functional application by a deadline normally overrides less tangible security considerations.</a:t>
            </a:r>
          </a:p>
          <a:p>
            <a:r>
              <a:rPr lang="en-GB" sz="2400" dirty="0"/>
              <a:t>A typical small organization may be willing to pay for only a few man-days of consulting time to evaluate a new application. A quick penetration test will often find the low-hanging fruit, but it may miss more subtle vulnerabilities that require time and patience to identify.</a:t>
            </a:r>
          </a:p>
        </p:txBody>
      </p:sp>
      <p:sp>
        <p:nvSpPr>
          <p:cNvPr id="4" name="Title 1">
            <a:extLst>
              <a:ext uri="{FF2B5EF4-FFF2-40B4-BE49-F238E27FC236}">
                <a16:creationId xmlns:a16="http://schemas.microsoft.com/office/drawing/2014/main" id="{407F032C-CBA1-4EBD-8FDA-B37657DF07B0}"/>
              </a:ext>
            </a:extLst>
          </p:cNvPr>
          <p:cNvSpPr>
            <a:spLocks noGrp="1"/>
          </p:cNvSpPr>
          <p:nvPr>
            <p:ph type="title"/>
          </p:nvPr>
        </p:nvSpPr>
        <p:spPr>
          <a:xfrm>
            <a:off x="366562" y="85993"/>
            <a:ext cx="10515600" cy="780280"/>
          </a:xfrm>
        </p:spPr>
        <p:txBody>
          <a:bodyPr>
            <a:normAutofit/>
          </a:bodyPr>
          <a:lstStyle/>
          <a:p>
            <a:r>
              <a:rPr lang="en-US" dirty="0"/>
              <a:t>Key Problem Factors cont.</a:t>
            </a:r>
            <a:endParaRPr lang="en-VG" dirty="0"/>
          </a:p>
        </p:txBody>
      </p:sp>
    </p:spTree>
    <p:extLst>
      <p:ext uri="{BB962C8B-B14F-4D97-AF65-F5344CB8AC3E}">
        <p14:creationId xmlns:p14="http://schemas.microsoft.com/office/powerpoint/2010/main" val="35169384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1540BC-7258-4997-B191-D8DFADAEA1A9}"/>
              </a:ext>
            </a:extLst>
          </p:cNvPr>
          <p:cNvSpPr>
            <a:spLocks noGrp="1"/>
          </p:cNvSpPr>
          <p:nvPr>
            <p:ph idx="1"/>
          </p:nvPr>
        </p:nvSpPr>
        <p:spPr>
          <a:xfrm>
            <a:off x="664944" y="1758248"/>
            <a:ext cx="11453261" cy="4575176"/>
          </a:xfrm>
        </p:spPr>
        <p:txBody>
          <a:bodyPr>
            <a:normAutofit/>
          </a:bodyPr>
          <a:lstStyle/>
          <a:p>
            <a:pPr marL="0" indent="0">
              <a:buNone/>
            </a:pPr>
            <a:r>
              <a:rPr lang="en-US" b="1" dirty="0"/>
              <a:t>Overextended Technologies</a:t>
            </a:r>
          </a:p>
          <a:p>
            <a:r>
              <a:rPr lang="en-GB" sz="2400" dirty="0"/>
              <a:t>Many of the core technologies employed in web applications began life when the landscape of the World Wide Web was very different.</a:t>
            </a:r>
          </a:p>
          <a:p>
            <a:r>
              <a:rPr lang="en-GB" sz="2400" dirty="0"/>
              <a:t>They have since been pushed far beyond the purposes for which they were originally conceived, such as the use of JavaScript as a means of data transmission in many AJAX-based </a:t>
            </a:r>
            <a:r>
              <a:rPr lang="en-US" sz="2400" dirty="0"/>
              <a:t>applications</a:t>
            </a:r>
            <a:r>
              <a:rPr lang="en-GB" sz="2400" dirty="0"/>
              <a:t>.</a:t>
            </a:r>
          </a:p>
          <a:p>
            <a:r>
              <a:rPr lang="en-GB" sz="2400" dirty="0"/>
              <a:t>As the expectations placed on web application functionality have rapidly evolved, the technologies used to implement this functionality have lagged behind the curve, with old technologies stretched and adapted to meet new requirements. Unsurprisingly, this has led to security vulnerabilities as unforeseen side effects emerge.</a:t>
            </a:r>
            <a:endParaRPr lang="en-US" sz="2400" b="1" dirty="0"/>
          </a:p>
          <a:p>
            <a:pPr marL="0" indent="0">
              <a:buNone/>
            </a:pPr>
            <a:endParaRPr lang="en-VG" b="1" dirty="0"/>
          </a:p>
        </p:txBody>
      </p:sp>
      <p:sp>
        <p:nvSpPr>
          <p:cNvPr id="4" name="Title 1">
            <a:extLst>
              <a:ext uri="{FF2B5EF4-FFF2-40B4-BE49-F238E27FC236}">
                <a16:creationId xmlns:a16="http://schemas.microsoft.com/office/drawing/2014/main" id="{B21265A4-9A40-4BE1-80C3-A5AC545CD8D3}"/>
              </a:ext>
            </a:extLst>
          </p:cNvPr>
          <p:cNvSpPr>
            <a:spLocks noGrp="1"/>
          </p:cNvSpPr>
          <p:nvPr>
            <p:ph type="title"/>
          </p:nvPr>
        </p:nvSpPr>
        <p:spPr>
          <a:xfrm>
            <a:off x="376188" y="211121"/>
            <a:ext cx="10515600" cy="780280"/>
          </a:xfrm>
        </p:spPr>
        <p:txBody>
          <a:bodyPr>
            <a:normAutofit/>
          </a:bodyPr>
          <a:lstStyle/>
          <a:p>
            <a:r>
              <a:rPr lang="en-US" dirty="0"/>
              <a:t>Key Problem Factors cont.</a:t>
            </a:r>
            <a:endParaRPr lang="en-VG" dirty="0"/>
          </a:p>
        </p:txBody>
      </p:sp>
    </p:spTree>
    <p:extLst>
      <p:ext uri="{BB962C8B-B14F-4D97-AF65-F5344CB8AC3E}">
        <p14:creationId xmlns:p14="http://schemas.microsoft.com/office/powerpoint/2010/main" val="27822629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097C50-1289-410E-B276-96FAC70996AD}"/>
              </a:ext>
            </a:extLst>
          </p:cNvPr>
          <p:cNvSpPr>
            <a:spLocks noGrp="1"/>
          </p:cNvSpPr>
          <p:nvPr>
            <p:ph idx="1"/>
          </p:nvPr>
        </p:nvSpPr>
        <p:spPr>
          <a:xfrm>
            <a:off x="645693" y="1357981"/>
            <a:ext cx="11116377" cy="4696310"/>
          </a:xfrm>
        </p:spPr>
        <p:txBody>
          <a:bodyPr>
            <a:normAutofit/>
          </a:bodyPr>
          <a:lstStyle/>
          <a:p>
            <a:pPr marL="0" indent="0">
              <a:buNone/>
            </a:pPr>
            <a:r>
              <a:rPr lang="en-US" b="1" dirty="0"/>
              <a:t>Increasing Demands on Functionality</a:t>
            </a:r>
          </a:p>
          <a:p>
            <a:r>
              <a:rPr lang="en-GB" sz="2400" dirty="0"/>
              <a:t>Applications are designed primarily with functionality and usability in mind</a:t>
            </a:r>
            <a:r>
              <a:rPr lang="en-US" sz="2400" b="1" dirty="0"/>
              <a:t>.</a:t>
            </a:r>
          </a:p>
          <a:p>
            <a:r>
              <a:rPr lang="en-GB" sz="2400" dirty="0"/>
              <a:t>Once-static user profiles now contain social networking features, allowing uploading of pictures and wiki-style editing of pages.</a:t>
            </a:r>
            <a:endParaRPr lang="en-US" sz="2400" dirty="0"/>
          </a:p>
          <a:p>
            <a:r>
              <a:rPr lang="en-GB" sz="2400" dirty="0"/>
              <a:t>A few years ago an application designer may have been content with implementing a username and password challenge to create the login functionality.</a:t>
            </a:r>
          </a:p>
          <a:p>
            <a:r>
              <a:rPr lang="en-GB" sz="2400" dirty="0"/>
              <a:t>Modern sites may include password recovery, username recovery, password hints, and an option to remember the username and password on future visits. </a:t>
            </a:r>
          </a:p>
          <a:p>
            <a:r>
              <a:rPr lang="en-GB" sz="2400" dirty="0"/>
              <a:t>Such a site would undoubtedly be promoted as having numerous security features, yet each one is really a self service feature adding to the site’s attack surface.</a:t>
            </a:r>
            <a:endParaRPr lang="en-VG" sz="2400" dirty="0"/>
          </a:p>
        </p:txBody>
      </p:sp>
      <p:sp>
        <p:nvSpPr>
          <p:cNvPr id="4" name="Title 1">
            <a:extLst>
              <a:ext uri="{FF2B5EF4-FFF2-40B4-BE49-F238E27FC236}">
                <a16:creationId xmlns:a16="http://schemas.microsoft.com/office/drawing/2014/main" id="{C66CE3BA-03AA-4E4D-9A50-9E75B9972D09}"/>
              </a:ext>
            </a:extLst>
          </p:cNvPr>
          <p:cNvSpPr>
            <a:spLocks noGrp="1"/>
          </p:cNvSpPr>
          <p:nvPr>
            <p:ph type="title"/>
          </p:nvPr>
        </p:nvSpPr>
        <p:spPr>
          <a:xfrm>
            <a:off x="366562" y="85993"/>
            <a:ext cx="10515600" cy="780280"/>
          </a:xfrm>
        </p:spPr>
        <p:txBody>
          <a:bodyPr>
            <a:normAutofit/>
          </a:bodyPr>
          <a:lstStyle/>
          <a:p>
            <a:r>
              <a:rPr lang="en-US" dirty="0"/>
              <a:t>Key Problem Factors cont.</a:t>
            </a:r>
            <a:endParaRPr lang="en-VG" dirty="0"/>
          </a:p>
        </p:txBody>
      </p:sp>
    </p:spTree>
    <p:extLst>
      <p:ext uri="{BB962C8B-B14F-4D97-AF65-F5344CB8AC3E}">
        <p14:creationId xmlns:p14="http://schemas.microsoft.com/office/powerpoint/2010/main" val="42927531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16022E-96ED-49CF-976C-E0C49E9AECCC}"/>
              </a:ext>
            </a:extLst>
          </p:cNvPr>
          <p:cNvSpPr>
            <a:spLocks noGrp="1"/>
          </p:cNvSpPr>
          <p:nvPr>
            <p:ph type="title"/>
          </p:nvPr>
        </p:nvSpPr>
        <p:spPr>
          <a:xfrm>
            <a:off x="212558" y="191871"/>
            <a:ext cx="10515600" cy="838033"/>
          </a:xfrm>
        </p:spPr>
        <p:txBody>
          <a:bodyPr/>
          <a:lstStyle/>
          <a:p>
            <a:r>
              <a:rPr lang="en-US" dirty="0"/>
              <a:t>The New Security Perimeter</a:t>
            </a:r>
            <a:endParaRPr lang="en-VG" dirty="0"/>
          </a:p>
        </p:txBody>
      </p:sp>
      <p:sp>
        <p:nvSpPr>
          <p:cNvPr id="3" name="Content Placeholder 2">
            <a:extLst>
              <a:ext uri="{FF2B5EF4-FFF2-40B4-BE49-F238E27FC236}">
                <a16:creationId xmlns:a16="http://schemas.microsoft.com/office/drawing/2014/main" id="{F20E596B-03B7-4ED3-821F-FDF290087B87}"/>
              </a:ext>
            </a:extLst>
          </p:cNvPr>
          <p:cNvSpPr>
            <a:spLocks noGrp="1"/>
          </p:cNvSpPr>
          <p:nvPr>
            <p:ph idx="1"/>
          </p:nvPr>
        </p:nvSpPr>
        <p:spPr>
          <a:xfrm>
            <a:off x="337686" y="1253331"/>
            <a:ext cx="11780520" cy="5412798"/>
          </a:xfrm>
        </p:spPr>
        <p:txBody>
          <a:bodyPr>
            <a:normAutofit/>
          </a:bodyPr>
          <a:lstStyle/>
          <a:p>
            <a:r>
              <a:rPr lang="en-GB" sz="2400" dirty="0"/>
              <a:t>Before web applications, organizations’ efforts to secure themselves against external attack were largely focused on the network perimeter. Defending this perimeter entailed hardening and patching the services it needed to expose and firewalling access to others.</a:t>
            </a:r>
          </a:p>
          <a:p>
            <a:r>
              <a:rPr lang="en-GB" sz="2400" dirty="0"/>
              <a:t>Web applications have changed all this.</a:t>
            </a:r>
          </a:p>
          <a:p>
            <a:r>
              <a:rPr lang="en-GB" sz="2400" dirty="0"/>
              <a:t>For an application to be accessible by its users, the perimeter firewall must </a:t>
            </a:r>
            <a:r>
              <a:rPr lang="en-GB" sz="2400" dirty="0">
                <a:solidFill>
                  <a:schemeClr val="accent2">
                    <a:lumMod val="50000"/>
                  </a:schemeClr>
                </a:solidFill>
              </a:rPr>
              <a:t>allow</a:t>
            </a:r>
            <a:r>
              <a:rPr lang="en-GB" sz="2400" dirty="0"/>
              <a:t> </a:t>
            </a:r>
            <a:r>
              <a:rPr lang="en-GB" sz="2400" dirty="0">
                <a:solidFill>
                  <a:schemeClr val="accent2">
                    <a:lumMod val="50000"/>
                  </a:schemeClr>
                </a:solidFill>
              </a:rPr>
              <a:t>inbound</a:t>
            </a:r>
            <a:r>
              <a:rPr lang="en-GB" sz="2400" dirty="0"/>
              <a:t> connections to the server over HTTP or HTTPS. And for the application to function, the server must be allowed to connect to supporting back-end systems, such as databases, mainframes, and financial and logistical systems. These systems often lie at the core of the organization’s operations and reside behind several layers of network-level </a:t>
            </a:r>
            <a:r>
              <a:rPr lang="en-GB" sz="2400" dirty="0" err="1"/>
              <a:t>defenses</a:t>
            </a:r>
            <a:r>
              <a:rPr lang="en-GB" sz="2400" dirty="0"/>
              <a:t>.</a:t>
            </a:r>
          </a:p>
          <a:p>
            <a:r>
              <a:rPr lang="en-GB" sz="2400" dirty="0"/>
              <a:t>If a vulnerability exists within a web application, an attacker on the public Internet may be able to compromise the organization’s core back-end systems solely by submitting crafted data from his web browser. This data sails past all the organization’s network </a:t>
            </a:r>
            <a:r>
              <a:rPr lang="en-GB" sz="2400" dirty="0" err="1"/>
              <a:t>defenses</a:t>
            </a:r>
            <a:r>
              <a:rPr lang="en-GB" sz="2400" dirty="0"/>
              <a:t>, in the same way as does ordinary, benign traffic to the web application.</a:t>
            </a:r>
            <a:endParaRPr lang="en-VG" sz="2400" dirty="0"/>
          </a:p>
        </p:txBody>
      </p:sp>
    </p:spTree>
    <p:extLst>
      <p:ext uri="{BB962C8B-B14F-4D97-AF65-F5344CB8AC3E}">
        <p14:creationId xmlns:p14="http://schemas.microsoft.com/office/powerpoint/2010/main" val="2461831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16022E-96ED-49CF-976C-E0C49E9AECCC}"/>
              </a:ext>
            </a:extLst>
          </p:cNvPr>
          <p:cNvSpPr>
            <a:spLocks noGrp="1"/>
          </p:cNvSpPr>
          <p:nvPr>
            <p:ph type="title"/>
          </p:nvPr>
        </p:nvSpPr>
        <p:spPr>
          <a:xfrm>
            <a:off x="212558" y="191871"/>
            <a:ext cx="10515600" cy="838033"/>
          </a:xfrm>
        </p:spPr>
        <p:txBody>
          <a:bodyPr/>
          <a:lstStyle/>
          <a:p>
            <a:r>
              <a:rPr lang="en-US" dirty="0"/>
              <a:t>The New Security Perimeter cont.</a:t>
            </a:r>
            <a:endParaRPr lang="en-VG" dirty="0"/>
          </a:p>
        </p:txBody>
      </p:sp>
      <p:sp>
        <p:nvSpPr>
          <p:cNvPr id="3" name="Content Placeholder 2">
            <a:extLst>
              <a:ext uri="{FF2B5EF4-FFF2-40B4-BE49-F238E27FC236}">
                <a16:creationId xmlns:a16="http://schemas.microsoft.com/office/drawing/2014/main" id="{F20E596B-03B7-4ED3-821F-FDF290087B87}"/>
              </a:ext>
            </a:extLst>
          </p:cNvPr>
          <p:cNvSpPr>
            <a:spLocks noGrp="1"/>
          </p:cNvSpPr>
          <p:nvPr>
            <p:ph idx="1"/>
          </p:nvPr>
        </p:nvSpPr>
        <p:spPr>
          <a:xfrm>
            <a:off x="337686" y="1455462"/>
            <a:ext cx="11780520" cy="4175317"/>
          </a:xfrm>
        </p:spPr>
        <p:txBody>
          <a:bodyPr>
            <a:normAutofit/>
          </a:bodyPr>
          <a:lstStyle/>
          <a:p>
            <a:pPr marL="0" indent="0">
              <a:buNone/>
            </a:pPr>
            <a:r>
              <a:rPr lang="en-GB" sz="2400" dirty="0" err="1"/>
              <a:t>Eg</a:t>
            </a:r>
            <a:r>
              <a:rPr lang="en-GB" sz="2400" dirty="0"/>
              <a:t>: </a:t>
            </a:r>
          </a:p>
          <a:p>
            <a:pPr marL="0" indent="0">
              <a:buNone/>
            </a:pPr>
            <a:r>
              <a:rPr lang="en-GB" sz="2400" dirty="0">
                <a:solidFill>
                  <a:schemeClr val="accent2">
                    <a:lumMod val="50000"/>
                  </a:schemeClr>
                </a:solidFill>
              </a:rPr>
              <a:t>suppose that an attacker wants to “hack in” to a bank’s systems and steal money from users’ accounts. In the past, before the bank deployed a web application, the attacker might have needed to find a vulnerability in a publicly reachable service, exploit this to gain a foothold on the bank’s DMZ, penetrate the firewall restricting access to its internal systems, map the network to find the mainframe computer, decipher the arcane protocol used to access it, and guess some credentials to log in.</a:t>
            </a:r>
          </a:p>
          <a:p>
            <a:pPr marL="0" indent="0">
              <a:buNone/>
            </a:pPr>
            <a:r>
              <a:rPr lang="en-GB" sz="2400" dirty="0">
                <a:solidFill>
                  <a:schemeClr val="accent2">
                    <a:lumMod val="50000"/>
                  </a:schemeClr>
                </a:solidFill>
              </a:rPr>
              <a:t>However, if the bank now deploys a vulnerable web application, the attacker may be able to achieve the same outcome simply by modifying an account number in a hidden field of an HTML form.</a:t>
            </a:r>
            <a:endParaRPr lang="en-VG" sz="2400" dirty="0">
              <a:solidFill>
                <a:schemeClr val="accent2">
                  <a:lumMod val="50000"/>
                </a:schemeClr>
              </a:solidFill>
            </a:endParaRPr>
          </a:p>
        </p:txBody>
      </p:sp>
    </p:spTree>
    <p:extLst>
      <p:ext uri="{BB962C8B-B14F-4D97-AF65-F5344CB8AC3E}">
        <p14:creationId xmlns:p14="http://schemas.microsoft.com/office/powerpoint/2010/main" val="16856680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758B8-21CB-41DD-8DE1-51372B79E718}"/>
              </a:ext>
            </a:extLst>
          </p:cNvPr>
          <p:cNvSpPr>
            <a:spLocks noGrp="1"/>
          </p:cNvSpPr>
          <p:nvPr>
            <p:ph type="title"/>
          </p:nvPr>
        </p:nvSpPr>
        <p:spPr>
          <a:xfrm>
            <a:off x="251059" y="300521"/>
            <a:ext cx="10515600" cy="761031"/>
          </a:xfrm>
        </p:spPr>
        <p:txBody>
          <a:bodyPr/>
          <a:lstStyle/>
          <a:p>
            <a:r>
              <a:rPr lang="en-GB" dirty="0"/>
              <a:t>The Future of Web Application Security</a:t>
            </a:r>
            <a:endParaRPr lang="en-VG" dirty="0"/>
          </a:p>
        </p:txBody>
      </p:sp>
      <p:sp>
        <p:nvSpPr>
          <p:cNvPr id="3" name="Content Placeholder 2">
            <a:extLst>
              <a:ext uri="{FF2B5EF4-FFF2-40B4-BE49-F238E27FC236}">
                <a16:creationId xmlns:a16="http://schemas.microsoft.com/office/drawing/2014/main" id="{EDF683E2-4FC6-4B27-A649-DE6C8C40FB05}"/>
              </a:ext>
            </a:extLst>
          </p:cNvPr>
          <p:cNvSpPr>
            <a:spLocks noGrp="1"/>
          </p:cNvSpPr>
          <p:nvPr>
            <p:ph idx="1"/>
          </p:nvPr>
        </p:nvSpPr>
        <p:spPr>
          <a:xfrm>
            <a:off x="356937" y="1517616"/>
            <a:ext cx="11751644" cy="4931309"/>
          </a:xfrm>
        </p:spPr>
        <p:txBody>
          <a:bodyPr>
            <a:normAutofit/>
          </a:bodyPr>
          <a:lstStyle/>
          <a:p>
            <a:r>
              <a:rPr lang="en-GB" sz="2400" dirty="0"/>
              <a:t>The details of the web application security landscape are not static. Even though old and well-understood vulnerabilities such as SQL injection continue to appear, their prevalence is gradually diminishing. Furthermore, the instances that remain are becoming more difficult to find and exploit.</a:t>
            </a:r>
          </a:p>
          <a:p>
            <a:r>
              <a:rPr lang="en-GB" sz="2400" dirty="0"/>
              <a:t>Attacks have moved from targeting the server side of applications to targeting users of the application. It still leverages defects within the application itself, but it generally involves some kind of interaction with another user to compromise that user’s dealings with the vulnerable application. </a:t>
            </a:r>
          </a:p>
          <a:p>
            <a:r>
              <a:rPr lang="en-GB" sz="2400" dirty="0"/>
              <a:t>As awareness of security threats matures, flaws in the server side are the first to be well understood and addressed, leaving the client side as a key battleground as the learning process continues.</a:t>
            </a:r>
          </a:p>
          <a:p>
            <a:endParaRPr lang="en-VG" dirty="0"/>
          </a:p>
        </p:txBody>
      </p:sp>
    </p:spTree>
    <p:extLst>
      <p:ext uri="{BB962C8B-B14F-4D97-AF65-F5344CB8AC3E}">
        <p14:creationId xmlns:p14="http://schemas.microsoft.com/office/powerpoint/2010/main" val="27247932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758B8-21CB-41DD-8DE1-51372B79E718}"/>
              </a:ext>
            </a:extLst>
          </p:cNvPr>
          <p:cNvSpPr>
            <a:spLocks noGrp="1"/>
          </p:cNvSpPr>
          <p:nvPr>
            <p:ph type="title"/>
          </p:nvPr>
        </p:nvSpPr>
        <p:spPr>
          <a:xfrm>
            <a:off x="251059" y="300521"/>
            <a:ext cx="10515600" cy="761031"/>
          </a:xfrm>
        </p:spPr>
        <p:txBody>
          <a:bodyPr/>
          <a:lstStyle/>
          <a:p>
            <a:r>
              <a:rPr lang="en-GB" dirty="0"/>
              <a:t>The Future of Web Application Security cont.</a:t>
            </a:r>
            <a:endParaRPr lang="en-VG" dirty="0"/>
          </a:p>
        </p:txBody>
      </p:sp>
      <p:sp>
        <p:nvSpPr>
          <p:cNvPr id="3" name="Content Placeholder 2">
            <a:extLst>
              <a:ext uri="{FF2B5EF4-FFF2-40B4-BE49-F238E27FC236}">
                <a16:creationId xmlns:a16="http://schemas.microsoft.com/office/drawing/2014/main" id="{EDF683E2-4FC6-4B27-A649-DE6C8C40FB05}"/>
              </a:ext>
            </a:extLst>
          </p:cNvPr>
          <p:cNvSpPr>
            <a:spLocks noGrp="1"/>
          </p:cNvSpPr>
          <p:nvPr>
            <p:ph idx="1"/>
          </p:nvPr>
        </p:nvSpPr>
        <p:spPr>
          <a:xfrm>
            <a:off x="363354" y="1363612"/>
            <a:ext cx="11751644" cy="4931309"/>
          </a:xfrm>
        </p:spPr>
        <p:txBody>
          <a:bodyPr>
            <a:normAutofit/>
          </a:bodyPr>
          <a:lstStyle/>
          <a:p>
            <a:pPr marL="0" indent="0">
              <a:buNone/>
            </a:pPr>
            <a:r>
              <a:rPr lang="en-GB" dirty="0"/>
              <a:t>Various recent trends in technology have somewhat altered the landscape of web applications,</a:t>
            </a:r>
          </a:p>
          <a:p>
            <a:pPr marL="0" indent="0">
              <a:buNone/>
            </a:pPr>
            <a:endParaRPr lang="en-GB" dirty="0"/>
          </a:p>
          <a:p>
            <a:r>
              <a:rPr lang="en-GB" sz="2400" dirty="0"/>
              <a:t>Web 2.0 — Greater use of functionality that enables user-generated content and information sharing, and also the adoption of various technologies that broadly support this functionality, including asynchronous HTTP requests and cross-domain integration.</a:t>
            </a:r>
          </a:p>
          <a:p>
            <a:r>
              <a:rPr lang="en-GB" sz="2400" dirty="0"/>
              <a:t>Cloud computing — Greater use of external service providers for various parts of the technology stack, including application software, application platforms, web server software, databases, and hardware. It also refers to increased usage of virtualization technologies within hosting environments.</a:t>
            </a:r>
          </a:p>
          <a:p>
            <a:pPr marL="0" indent="0">
              <a:buNone/>
            </a:pPr>
            <a:endParaRPr lang="en-VG" sz="2400" dirty="0"/>
          </a:p>
        </p:txBody>
      </p:sp>
    </p:spTree>
    <p:extLst>
      <p:ext uri="{BB962C8B-B14F-4D97-AF65-F5344CB8AC3E}">
        <p14:creationId xmlns:p14="http://schemas.microsoft.com/office/powerpoint/2010/main" val="36789127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770</TotalTime>
  <Words>3210</Words>
  <Application>Microsoft Office PowerPoint</Application>
  <PresentationFormat>Widescreen</PresentationFormat>
  <Paragraphs>168</Paragraphs>
  <Slides>22</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Calibri Light</vt:lpstr>
      <vt:lpstr>Office Theme</vt:lpstr>
      <vt:lpstr>Lecture 01 Web Application (In)security</vt:lpstr>
      <vt:lpstr>The Evolution of Web Applications</vt:lpstr>
      <vt:lpstr>PowerPoint Presentation</vt:lpstr>
      <vt:lpstr>PowerPoint Presentation</vt:lpstr>
      <vt:lpstr>Common Web Application Functions</vt:lpstr>
      <vt:lpstr>Web Application Security</vt:lpstr>
      <vt:lpstr>PowerPoint Presentation</vt:lpstr>
      <vt:lpstr>PowerPoint Presentation</vt:lpstr>
      <vt:lpstr>The Core Security Problem: Users Can Submit Arbitrary Input</vt:lpstr>
      <vt:lpstr>PowerPoint Presentation</vt:lpstr>
      <vt:lpstr>PowerPoint Presentation</vt:lpstr>
      <vt:lpstr>Key Problem Factors</vt:lpstr>
      <vt:lpstr>Key Problem Factors cont.</vt:lpstr>
      <vt:lpstr>Key Problem Factors cont.</vt:lpstr>
      <vt:lpstr>Key Problem Factors cont.</vt:lpstr>
      <vt:lpstr>Key Problem Factors cont.</vt:lpstr>
      <vt:lpstr>Key Problem Factors cont.</vt:lpstr>
      <vt:lpstr>Key Problem Factors cont.</vt:lpstr>
      <vt:lpstr>The New Security Perimeter</vt:lpstr>
      <vt:lpstr>The New Security Perimeter cont.</vt:lpstr>
      <vt:lpstr>The Future of Web Application Security</vt:lpstr>
      <vt:lpstr>The Future of Web Application Security cont.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01 Web Application (In)security</dc:title>
  <dc:creator>Ravishanka Silva</dc:creator>
  <cp:lastModifiedBy>Ravishanka Silva</cp:lastModifiedBy>
  <cp:revision>38</cp:revision>
  <dcterms:created xsi:type="dcterms:W3CDTF">2024-12-13T05:25:08Z</dcterms:created>
  <dcterms:modified xsi:type="dcterms:W3CDTF">2024-12-14T16:13:25Z</dcterms:modified>
</cp:coreProperties>
</file>